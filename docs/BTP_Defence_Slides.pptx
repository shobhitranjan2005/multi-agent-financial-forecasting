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question, not the system. The system is the instrument; the question is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to 40 seconds. Everyone already believes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slide before anyone can ask it. It converts the single biggest attack on the project into evidence of rigour.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contribution moves from architecture to MEASUREMENT. If they remember one slide, make it this 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test window is a design constraint, not a detail.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Examiners like hearing that a plan was changed for a reason.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call it a limitation. Four reasons, stated as a decision.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ablatable edge. That edge is the experiment.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specialist sees ONLY its slice. If all four saw everything they'd converge and the ablation would measure nothing.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import-graph test is the crispest single answer to 'how do you know it doesn't leak?'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Very few student backtests can prove their universe. Say so.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willingness to ship an empty evidence block rather than a convenient number is the strongest integrity signal in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for one piece of engineering to defend, defend this 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nonce detail always lands well — it shows we thought about how our own tooling could fake a result.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Descriptive reality of the test set: the market was down-trending (58.8% down), the single-LLM was almost uniformly bullish (66/68 up), and uninformative always-down would beat every model. Multi-agent debate significantly moderated the structural bullish bias.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ORDER:</a:t>
            </a:r>
          </a:p>
          <a:p>
            <a:r>
              <a:t>1. forecast AAPL --as-of ...  -&gt; rejected at the boundary</a:t>
            </a:r>
          </a:p>
          <a:p>
            <a:r>
              <a:t>2. --data-only                -&gt; evidence pack, no model calls</a:t>
            </a:r>
          </a:p>
          <a:p>
            <a:r>
              <a:t>3. Streamlit: run the full pipeline, show the live agent log</a:t>
            </a:r>
          </a:p>
          <a:p>
            <a:r>
              <a:t>4. Bull vs Bear panel, then the forecast card</a:t>
            </a:r>
          </a:p>
          <a:p>
            <a:r>
              <a:t>5. Scroll to the reconciliation gate</a:t>
            </a:r>
          </a:p>
          <a:p/>
          <a:p>
            <a:r>
              <a:t>EVERY run must be served from the permanent LLM cache. Never let a live API call decide whether the defence succeeds.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accuracy: multiagent 50.00% vs baseline 41.18% (delta +8.82 pts, 95% CI [-4.41, +22.06] pts, McNemar p=0.2863). The date-clustered CI spans zero; our pre-registered decision rule dictates reporting NO SUPPORTED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across all 68 test cases under Gemini 3.1 Flash-Lite. Multiagent with debate incurs 4.84x tokens and 8.26x wall time compared to baseline, and 2.14x tokens / 7.19x wall time compared to no-debate ensemble.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our pre-registered criteria, any CI that includes zero must be reported as 'no supported difference' and cannot be claimed as an improvement. The contribution is the rigorous measurement that refutes the free-lunch assumption.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Volunteering limitations before they're asked is the single cheapest way to gain credibility in a viva.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reframing you opened with. Then stop talking.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2194560"/>
          </a:xfrm>
          <a:prstGeom prst="rect">
            <a:avLst/>
          </a:prstGeom>
          <a:noFill/>
        </p:spPr>
        <p:txBody>
          <a:bodyPr wrap="square">
            <a:spAutoFit/>
          </a:bodyPr>
          <a:lstStyle/>
          <a:p>
            <a:pPr>
              <a:defRPr sz="4000" b="1">
                <a:solidFill>
                  <a:srgbClr val="1F3864"/>
                </a:solidFill>
              </a:defRPr>
            </a:pPr>
            <a:r>
              <a:t>Does Adversarial Multi-Agent Debate</a:t>
            </a:r>
            <a:br/>
            <a:r>
              <a:t>Improve LLM Financial Forecasting?</a:t>
            </a:r>
          </a:p>
          <a:p>
            <a:pPr>
              <a:spcBef>
                <a:spcPts val="1600"/>
              </a:spcBef>
              <a:defRPr sz="2000" i="1">
                <a:solidFill>
                  <a:srgbClr val="2E5C8A"/>
                </a:solidFill>
              </a:defRPr>
            </a:pPr>
            <a:r>
              <a:t>A leakage-free evaluation on Indian equities (NSE)</a:t>
            </a:r>
          </a:p>
          <a:p>
            <a:pPr>
              <a:spcBef>
                <a:spcPts val="2400"/>
              </a:spcBef>
              <a:defRPr sz="1300">
                <a:solidFill>
                  <a:srgbClr val="6B7280"/>
                </a:solidFill>
              </a:defRPr>
            </a:pPr>
            <a:r>
              <a:t>B.Tech Capstone Project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The problem</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881360" cy="4206240"/>
          </a:xfrm>
          <a:prstGeom prst="rect">
            <a:avLst/>
          </a:prstGeom>
          <a:noFill/>
        </p:spPr>
        <p:txBody>
          <a:bodyPr wrap="square">
            <a:spAutoFit/>
          </a:bodyPr>
          <a:lstStyle/>
          <a:p>
            <a:pPr>
              <a:spcAft>
                <a:spcPts val="1200"/>
              </a:spcAft>
              <a:defRPr sz="1800" b="0">
                <a:solidFill>
                  <a:srgbClr val="1A1A1A"/>
                </a:solidFill>
              </a:defRPr>
            </a:pPr>
            <a:r>
              <a:t>• Forecasting needs four incompatible kinds of evidence at once:</a:t>
            </a:r>
          </a:p>
          <a:p>
            <a:pPr lvl="1">
              <a:spcAft>
                <a:spcPts val="600"/>
              </a:spcAft>
              <a:defRPr sz="1600" b="0">
                <a:solidFill>
                  <a:srgbClr val="6B7280"/>
                </a:solidFill>
              </a:defRPr>
            </a:pPr>
            <a:r>
              <a:t>• price action · company fundamentals · news sentiment · macro context</a:t>
            </a:r>
          </a:p>
          <a:p>
            <a:pPr>
              <a:spcAft>
                <a:spcPts val="1200"/>
              </a:spcAft>
              <a:defRPr sz="1800" b="0">
                <a:solidFill>
                  <a:srgbClr val="1A1A1A"/>
                </a:solidFill>
              </a:defRPr>
            </a:pPr>
            <a:r>
              <a:t>• One LLM handed all of it:</a:t>
            </a:r>
          </a:p>
          <a:p>
            <a:pPr lvl="1">
              <a:spcAft>
                <a:spcPts val="600"/>
              </a:spcAft>
              <a:defRPr sz="1600" b="0">
                <a:solidFill>
                  <a:srgbClr val="6B7280"/>
                </a:solidFill>
              </a:defRPr>
            </a:pPr>
            <a:r>
              <a:t>• hallucinates numbers · cannot fetch market data · collapses conflict into bland consensus</a:t>
            </a:r>
          </a:p>
          <a:p>
            <a:pPr>
              <a:spcAft>
                <a:spcPts val="1200"/>
              </a:spcAft>
              <a:defRPr sz="2000" b="1">
                <a:solidFill>
                  <a:srgbClr val="B26B00"/>
                </a:solidFill>
              </a:defRPr>
            </a:pPr>
            <a:r>
              <a:t>The industry answer: split the work across specialist agents, then make them argue.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First, the honest part</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881360" cy="4206240"/>
          </a:xfrm>
          <a:prstGeom prst="rect">
            <a:avLst/>
          </a:prstGeom>
          <a:noFill/>
        </p:spPr>
        <p:txBody>
          <a:bodyPr wrap="square">
            <a:spAutoFit/>
          </a:bodyPr>
          <a:lstStyle/>
          <a:p>
            <a:pPr>
              <a:spcAft>
                <a:spcPts val="1200"/>
              </a:spcAft>
              <a:defRPr sz="1800" b="0">
                <a:solidFill>
                  <a:srgbClr val="1A1A1A"/>
                </a:solidFill>
              </a:defRPr>
            </a:pPr>
            <a:r>
              <a:t>• That architecture is already published.</a:t>
            </a:r>
          </a:p>
          <a:p>
            <a:pPr lvl="1">
              <a:spcAft>
                <a:spcPts val="600"/>
              </a:spcAft>
              <a:defRPr sz="1600" b="0">
                <a:solidFill>
                  <a:srgbClr val="6B7280"/>
                </a:solidFill>
              </a:defRPr>
            </a:pPr>
            <a:r>
              <a:t>• TradingAgents — arXiv:2412.20138, Tauric Research, open source</a:t>
            </a:r>
          </a:p>
          <a:p>
            <a:pPr lvl="1">
              <a:spcAft>
                <a:spcPts val="600"/>
              </a:spcAft>
              <a:defRPr sz="1600" b="0">
                <a:solidFill>
                  <a:srgbClr val="6B7280"/>
                </a:solidFill>
              </a:defRPr>
            </a:pPr>
            <a:r>
              <a:t>• Specialist analysts · Bull and Bear debate · risk team · synthesiser</a:t>
            </a:r>
          </a:p>
          <a:p>
            <a:pPr>
              <a:spcAft>
                <a:spcPts val="1200"/>
              </a:spcAft>
              <a:defRPr sz="2000" b="1">
                <a:solidFill>
                  <a:srgbClr val="B26B00"/>
                </a:solidFill>
              </a:defRPr>
            </a:pPr>
            <a:r>
              <a:t>So 'we built a Bull/Bear debate' is not a contribution.</a:t>
            </a:r>
          </a:p>
          <a:p>
            <a:pPr>
              <a:spcAft>
                <a:spcPts val="1200"/>
              </a:spcAft>
              <a:defRPr sz="1800" b="0">
                <a:solidFill>
                  <a:srgbClr val="1A1A1A"/>
                </a:solidFill>
              </a:defRPr>
            </a:pPr>
            <a:r>
              <a:t>• A supervisor who searches the phrase finds that paper in one query.</a:t>
            </a:r>
          </a:p>
          <a:p>
            <a:pPr>
              <a:spcAft>
                <a:spcPts val="1200"/>
              </a:spcAft>
              <a:defRPr sz="1800" b="0">
                <a:solidFill>
                  <a:srgbClr val="1A1A1A"/>
                </a:solidFill>
              </a:defRPr>
            </a:pPr>
            <a:r>
              <a:t>• We say it first — and then say what IS 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The research question</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194560"/>
            <a:ext cx="10058400" cy="2743200"/>
          </a:xfrm>
          <a:prstGeom prst="rect">
            <a:avLst/>
          </a:prstGeom>
          <a:noFill/>
        </p:spPr>
        <p:txBody>
          <a:bodyPr wrap="square">
            <a:spAutoFit/>
          </a:bodyPr>
          <a:lstStyle/>
          <a:p>
            <a:pPr algn="ctr">
              <a:defRPr sz="2400" b="1">
                <a:solidFill>
                  <a:srgbClr val="2E5C8A"/>
                </a:solidFill>
              </a:defRPr>
            </a:pPr>
            <a:r>
              <a:t>Under an evaluation protocol that provably excludes lookahead bias,</a:t>
            </a:r>
            <a:br/>
            <a:r>
              <a:t>does adversarial debate beat a single LLM and a no-debate ensemble —</a:t>
            </a:r>
            <a:br/>
            <a:r>
              <a:t>and is any gain worth its token cost?</a:t>
            </a:r>
          </a:p>
          <a:p>
            <a:pPr algn="ctr">
              <a:spcBef>
                <a:spcPts val="2400"/>
              </a:spcBef>
              <a:defRPr sz="1500">
                <a:solidFill>
                  <a:srgbClr val="6B7280"/>
                </a:solidFill>
              </a:defRPr>
            </a:pPr>
            <a:r>
              <a:t>Worth answering either way. A measured 'no' is a real finding.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Problem 1 — the backtest that measures memory</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881360" cy="4206240"/>
          </a:xfrm>
          <a:prstGeom prst="rect">
            <a:avLst/>
          </a:prstGeom>
          <a:noFill/>
        </p:spPr>
        <p:txBody>
          <a:bodyPr wrap="square">
            <a:spAutoFit/>
          </a:bodyPr>
          <a:lstStyle/>
          <a:p>
            <a:pPr>
              <a:spcAft>
                <a:spcPts val="1200"/>
              </a:spcAft>
              <a:defRPr sz="1800" b="0">
                <a:solidFill>
                  <a:srgbClr val="1A1A1A"/>
                </a:solidFill>
              </a:defRPr>
            </a:pPr>
            <a:r>
              <a:t>• 'Test a forecast made three months ago against what happened.'</a:t>
            </a:r>
          </a:p>
          <a:p>
            <a:pPr lvl="1">
              <a:spcAft>
                <a:spcPts val="600"/>
              </a:spcAft>
              <a:defRPr sz="1600" b="0">
                <a:solidFill>
                  <a:srgbClr val="6B7280"/>
                </a:solidFill>
              </a:defRPr>
            </a:pPr>
            <a:r>
              <a:t>• The model's weights already encode what happened.</a:t>
            </a:r>
          </a:p>
          <a:p>
            <a:pPr>
              <a:spcAft>
                <a:spcPts val="1200"/>
              </a:spcAft>
              <a:defRPr sz="1800" b="0">
                <a:solidFill>
                  <a:srgbClr val="1A1A1A"/>
                </a:solidFill>
              </a:defRPr>
            </a:pPr>
            <a:r>
              <a:t>• arXiv:2512.23847 — Lookahead Propensity:</a:t>
            </a:r>
          </a:p>
          <a:p>
            <a:pPr lvl="1">
              <a:spcAft>
                <a:spcPts val="600"/>
              </a:spcAft>
              <a:defRPr sz="1600" b="0">
                <a:solidFill>
                  <a:srgbClr val="6B7280"/>
                </a:solidFill>
              </a:defRPr>
            </a:pPr>
            <a:r>
              <a:t>• materially positive across the training window</a:t>
            </a:r>
          </a:p>
          <a:p>
            <a:pPr lvl="1">
              <a:spcAft>
                <a:spcPts val="600"/>
              </a:spcAft>
              <a:defRPr sz="1600" b="0">
                <a:solidFill>
                  <a:srgbClr val="6B7280"/>
                </a:solidFill>
              </a:defRPr>
            </a:pPr>
            <a:r>
              <a:t>• collapses to ~zero right after the training cutoff</a:t>
            </a:r>
          </a:p>
          <a:p>
            <a:pPr>
              <a:spcAft>
                <a:spcPts val="1200"/>
              </a:spcAft>
              <a:defRPr sz="2000" b="1">
                <a:solidFill>
                  <a:srgbClr val="B26B00"/>
                </a:solidFill>
              </a:defRPr>
            </a:pPr>
            <a:r>
              <a:t>Only a post-cutoff test window is valid. Everything else is recall.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Problem 2 — the phase order that guarantees failure</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881360" cy="4206240"/>
          </a:xfrm>
          <a:prstGeom prst="rect">
            <a:avLst/>
          </a:prstGeom>
          <a:noFill/>
        </p:spPr>
        <p:txBody>
          <a:bodyPr wrap="square">
            <a:spAutoFit/>
          </a:bodyPr>
          <a:lstStyle/>
          <a:p>
            <a:pPr>
              <a:spcAft>
                <a:spcPts val="1200"/>
              </a:spcAft>
              <a:defRPr sz="1800" b="0">
                <a:solidFill>
                  <a:srgbClr val="1A1A1A"/>
                </a:solidFill>
              </a:defRPr>
            </a:pPr>
            <a:r>
              <a:t>• Build for 10 weeks, evaluate in week 11:</a:t>
            </a:r>
          </a:p>
          <a:p>
            <a:pPr lvl="1">
              <a:spcAft>
                <a:spcPts val="600"/>
              </a:spcAft>
              <a:defRPr sz="1600" b="0">
                <a:solidFill>
                  <a:srgbClr val="6B7280"/>
                </a:solidFill>
              </a:defRPr>
            </a:pPr>
            <a:r>
              <a:t>• if the protocol is broken, there is no time left to fix it</a:t>
            </a:r>
          </a:p>
          <a:p>
            <a:pPr lvl="1">
              <a:spcAft>
                <a:spcPts val="600"/>
              </a:spcAft>
              <a:defRPr sz="1600" b="0">
                <a:solidFill>
                  <a:srgbClr val="6B7280"/>
                </a:solidFill>
              </a:defRPr>
            </a:pPr>
            <a:r>
              <a:t>• 'multi-agent beats one LLM' is unprovable without the baseline</a:t>
            </a:r>
          </a:p>
          <a:p>
            <a:pPr>
              <a:spcAft>
                <a:spcPts val="1200"/>
              </a:spcAft>
              <a:defRPr sz="2000" b="1">
                <a:solidFill>
                  <a:srgbClr val="B26B00"/>
                </a:solidFill>
              </a:defRPr>
            </a:pPr>
            <a:r>
              <a:t>Rule adopted: build the ruler before the thing you measure.</a:t>
            </a:r>
          </a:p>
          <a:p>
            <a:pPr>
              <a:spcAft>
                <a:spcPts val="1200"/>
              </a:spcAft>
              <a:defRPr sz="1800" b="0">
                <a:solidFill>
                  <a:srgbClr val="1A1A1A"/>
                </a:solidFill>
              </a:defRPr>
            </a:pPr>
            <a:r>
              <a:t>• Evaluation moved to Phase 2. Baseline shipped in Phase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Why Indian equities only — a choice, not a shortcut</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881360" cy="4206240"/>
          </a:xfrm>
          <a:prstGeom prst="rect">
            <a:avLst/>
          </a:prstGeom>
          <a:noFill/>
        </p:spPr>
        <p:txBody>
          <a:bodyPr wrap="square">
            <a:spAutoFit/>
          </a:bodyPr>
          <a:lstStyle/>
          <a:p>
            <a:pPr>
              <a:spcAft>
                <a:spcPts val="1200"/>
              </a:spcAft>
              <a:defRPr sz="1800" b="0">
                <a:solidFill>
                  <a:srgbClr val="1A1A1A"/>
                </a:solidFill>
              </a:defRPr>
            </a:pPr>
            <a:r>
              <a:t>• It IS the novelty — the literature is overwhelmingly US large-cap.</a:t>
            </a:r>
          </a:p>
          <a:p>
            <a:pPr>
              <a:spcAft>
                <a:spcPts val="1200"/>
              </a:spcAft>
              <a:defRPr sz="1800" b="0">
                <a:solidFill>
                  <a:srgbClr val="1A1A1A"/>
                </a:solidFill>
              </a:defRPr>
            </a:pPr>
            <a:r>
              <a:t>• One market = one calendar, one currency, one regulator, one filing deadline.</a:t>
            </a:r>
          </a:p>
          <a:p>
            <a:pPr lvl="1">
              <a:spcAft>
                <a:spcPts val="600"/>
              </a:spcAft>
              <a:defRPr sz="1600" b="0">
                <a:solidFill>
                  <a:srgbClr val="6B7280"/>
                </a:solidFill>
              </a:defRPr>
            </a:pPr>
            <a:r>
              <a:t>• That is what makes the as_of protocol PROVABLE rather than approximate.</a:t>
            </a:r>
          </a:p>
          <a:p>
            <a:pPr>
              <a:spcAft>
                <a:spcPts val="1200"/>
              </a:spcAft>
              <a:defRPr sz="1800" b="0">
                <a:solidFill>
                  <a:srgbClr val="1A1A1A"/>
                </a:solidFill>
              </a:defRPr>
            </a:pPr>
            <a:r>
              <a:t>• It buys India-specific engineering worth real marks:</a:t>
            </a:r>
          </a:p>
          <a:p>
            <a:pPr lvl="1">
              <a:spcAft>
                <a:spcPts val="600"/>
              </a:spcAft>
              <a:defRPr sz="1600" b="0">
                <a:solidFill>
                  <a:srgbClr val="6B7280"/>
                </a:solidFill>
              </a:defRPr>
            </a:pPr>
            <a:r>
              <a:t>• point-in-time bhavcopy universe · SEBI filing lag · NIFTY-relative scoring · lakh/crore checks</a:t>
            </a:r>
          </a:p>
          <a:p>
            <a:pPr>
              <a:spcAft>
                <a:spcPts val="1200"/>
              </a:spcAft>
              <a:defRPr sz="1800" b="0">
                <a:solidFill>
                  <a:srgbClr val="1A1A1A"/>
                </a:solidFill>
              </a:defRPr>
            </a:pPr>
            <a:r>
              <a:t>• NSE publishes a free, keyless, complete daily archive. Few markets 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Architecture</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08760"/>
            <a:ext cx="10881360" cy="4754880"/>
          </a:xfrm>
          <a:prstGeom prst="rect">
            <a:avLst/>
          </a:prstGeom>
          <a:noFill/>
        </p:spPr>
        <p:txBody>
          <a:bodyPr wrap="square">
            <a:spAutoFit/>
          </a:bodyPr>
          <a:lstStyle/>
          <a:p>
            <a:pPr>
              <a:spcAft>
                <a:spcPts val="0"/>
              </a:spcAft>
              <a:defRPr sz="1300">
                <a:solidFill>
                  <a:srgbClr val="1A1A1A"/>
                </a:solidFill>
                <a:latin typeface="Consolas"/>
              </a:defRPr>
            </a:pPr>
            <a:r>
              <a:t>   Ticker + as-of date</a:t>
            </a:r>
          </a:p>
          <a:p>
            <a:pPr>
              <a:spcAft>
                <a:spcPts val="0"/>
              </a:spcAft>
              <a:defRPr sz="1300">
                <a:solidFill>
                  <a:srgbClr val="1A1A1A"/>
                </a:solidFill>
                <a:latin typeface="Consolas"/>
              </a:defRPr>
            </a:pPr>
            <a:r>
              <a:t>          |          &lt;-- India boundary: resolve to .NS/.BO, or REJECT</a:t>
            </a:r>
          </a:p>
          <a:p>
            <a:pPr>
              <a:spcAft>
                <a:spcPts val="0"/>
              </a:spcAft>
              <a:defRPr sz="1300">
                <a:solidFill>
                  <a:srgbClr val="1A1A1A"/>
                </a:solidFill>
                <a:latin typeface="Consolas"/>
              </a:defRPr>
            </a:pPr>
            <a:r>
              <a:t>          v</a:t>
            </a:r>
          </a:p>
          <a:p>
            <a:pPr>
              <a:spcAft>
                <a:spcPts val="0"/>
              </a:spcAft>
              <a:defRPr sz="1300">
                <a:solidFill>
                  <a:srgbClr val="1A1A1A"/>
                </a:solidFill>
                <a:latin typeface="Consolas"/>
              </a:defRPr>
            </a:pPr>
            <a:r>
              <a:t>  +-------- SPECIALIST LAYER  (parallel fan-out) ---------+</a:t>
            </a:r>
          </a:p>
          <a:p>
            <a:pPr>
              <a:spcAft>
                <a:spcPts val="0"/>
              </a:spcAft>
              <a:defRPr sz="1300">
                <a:solidFill>
                  <a:srgbClr val="1A1A1A"/>
                </a:solidFill>
                <a:latin typeface="Consolas"/>
              </a:defRPr>
            </a:pPr>
            <a:r>
              <a:t>  |  Technical   Fundamental   Sentiment   Macro          |</a:t>
            </a:r>
          </a:p>
          <a:p>
            <a:pPr>
              <a:spcAft>
                <a:spcPts val="0"/>
              </a:spcAft>
              <a:defRPr sz="1300">
                <a:solidFill>
                  <a:srgbClr val="1A1A1A"/>
                </a:solidFill>
                <a:latin typeface="Consolas"/>
              </a:defRPr>
            </a:pPr>
            <a:r>
              <a:t>  +--------------------------------------------------------+</a:t>
            </a:r>
          </a:p>
          <a:p>
            <a:pPr>
              <a:spcAft>
                <a:spcPts val="0"/>
              </a:spcAft>
              <a:defRPr sz="1300">
                <a:solidFill>
                  <a:srgbClr val="1A1A1A"/>
                </a:solidFill>
                <a:latin typeface="Consolas"/>
              </a:defRPr>
            </a:pPr>
            <a:r>
              <a:t>          |  fan-in</a:t>
            </a:r>
          </a:p>
          <a:p>
            <a:pPr>
              <a:spcAft>
                <a:spcPts val="0"/>
              </a:spcAft>
              <a:defRPr sz="1300">
                <a:solidFill>
                  <a:srgbClr val="1A1A1A"/>
                </a:solidFill>
                <a:latin typeface="Consolas"/>
              </a:defRPr>
            </a:pPr>
            <a:r>
              <a:t>          v</a:t>
            </a:r>
          </a:p>
          <a:p>
            <a:pPr>
              <a:spcAft>
                <a:spcPts val="0"/>
              </a:spcAft>
              <a:defRPr sz="1300">
                <a:solidFill>
                  <a:srgbClr val="1A1A1A"/>
                </a:solidFill>
                <a:latin typeface="Consolas"/>
              </a:defRPr>
            </a:pPr>
            <a:r>
              <a:t>   RECONCILIATION GATE    every number re-checked vs source</a:t>
            </a:r>
          </a:p>
          <a:p>
            <a:pPr>
              <a:spcAft>
                <a:spcPts val="0"/>
              </a:spcAft>
              <a:defRPr sz="1300">
                <a:solidFill>
                  <a:srgbClr val="1A1A1A"/>
                </a:solidFill>
                <a:latin typeface="Consolas"/>
              </a:defRPr>
            </a:pPr>
            <a:r>
              <a:t>          |</a:t>
            </a:r>
          </a:p>
          <a:p>
            <a:pPr>
              <a:spcAft>
                <a:spcPts val="0"/>
              </a:spcAft>
              <a:defRPr sz="1300">
                <a:solidFill>
                  <a:srgbClr val="1A1A1A"/>
                </a:solidFill>
                <a:latin typeface="Consolas"/>
              </a:defRPr>
            </a:pPr>
            <a:r>
              <a:t>          v</a:t>
            </a:r>
          </a:p>
          <a:p>
            <a:pPr>
              <a:spcAft>
                <a:spcPts val="0"/>
              </a:spcAft>
              <a:defRPr sz="1300">
                <a:solidFill>
                  <a:srgbClr val="1A1A1A"/>
                </a:solidFill>
                <a:latin typeface="Consolas"/>
              </a:defRPr>
            </a:pPr>
            <a:r>
              <a:t>   DEBATE STAGE   &lt;---- ABLATABLE (one conditional edge)</a:t>
            </a:r>
          </a:p>
          <a:p>
            <a:pPr>
              <a:spcAft>
                <a:spcPts val="0"/>
              </a:spcAft>
              <a:defRPr sz="1300">
                <a:solidFill>
                  <a:srgbClr val="1A1A1A"/>
                </a:solidFill>
                <a:latin typeface="Consolas"/>
              </a:defRPr>
            </a:pPr>
            <a:r>
              <a:t>     Bull -&gt; Bear rebuts -&gt; Bull counters -&gt; Bear closes</a:t>
            </a:r>
          </a:p>
          <a:p>
            <a:pPr>
              <a:spcAft>
                <a:spcPts val="0"/>
              </a:spcAft>
              <a:defRPr sz="1300">
                <a:solidFill>
                  <a:srgbClr val="1A1A1A"/>
                </a:solidFill>
                <a:latin typeface="Consolas"/>
              </a:defRPr>
            </a:pPr>
            <a:r>
              <a:t>          |</a:t>
            </a:r>
          </a:p>
          <a:p>
            <a:pPr>
              <a:spcAft>
                <a:spcPts val="0"/>
              </a:spcAft>
              <a:defRPr sz="1300">
                <a:solidFill>
                  <a:srgbClr val="1A1A1A"/>
                </a:solidFill>
                <a:latin typeface="Consolas"/>
              </a:defRPr>
            </a:pPr>
            <a:r>
              <a:t>          v</a:t>
            </a:r>
          </a:p>
          <a:p>
            <a:pPr>
              <a:spcAft>
                <a:spcPts val="0"/>
              </a:spcAft>
              <a:defRPr sz="1300">
                <a:solidFill>
                  <a:srgbClr val="1A1A1A"/>
                </a:solidFill>
                <a:latin typeface="Consolas"/>
              </a:defRPr>
            </a:pPr>
            <a:r>
              <a:t>   CHIEF RISK OFFICER     weighs evidence, issues the call</a:t>
            </a:r>
          </a:p>
          <a:p>
            <a:pPr>
              <a:spcAft>
                <a:spcPts val="0"/>
              </a:spcAft>
              <a:defRPr sz="1300">
                <a:solidFill>
                  <a:srgbClr val="1A1A1A"/>
                </a:solidFill>
                <a:latin typeface="Consolas"/>
              </a:defRPr>
            </a:pPr>
            <a:r>
              <a:t>          |</a:t>
            </a:r>
          </a:p>
          <a:p>
            <a:pPr>
              <a:spcAft>
                <a:spcPts val="0"/>
              </a:spcAft>
              <a:defRPr sz="1300">
                <a:solidFill>
                  <a:srgbClr val="1A1A1A"/>
                </a:solidFill>
                <a:latin typeface="Consolas"/>
              </a:defRPr>
            </a:pPr>
            <a:r>
              <a:t>          v</a:t>
            </a:r>
          </a:p>
          <a:p>
            <a:pPr>
              <a:spcAft>
                <a:spcPts val="0"/>
              </a:spcAft>
              <a:defRPr sz="1300">
                <a:solidFill>
                  <a:srgbClr val="1A1A1A"/>
                </a:solidFill>
                <a:latin typeface="Consolas"/>
              </a:defRPr>
            </a:pPr>
            <a:r>
              <a:t>   signal | target range (INR) | confidence % | citations</a:t>
            </a:r>
          </a:p>
          <a:p>
            <a:pPr>
              <a:spcAft>
                <a:spcPts val="0"/>
              </a:spcAft>
              <a:defRPr sz="1300">
                <a:solidFill>
                  <a:srgbClr val="1A1A1A"/>
                </a:solidFill>
                <a:latin typeface="Consolas"/>
              </a:defRPr>
            </a:pPr>
            <a:r>
              <a:t>          |</a:t>
            </a:r>
          </a:p>
          <a:p>
            <a:pPr>
              <a:spcAft>
                <a:spcPts val="0"/>
              </a:spcAft>
              <a:defRPr sz="1300">
                <a:solidFill>
                  <a:srgbClr val="1A1A1A"/>
                </a:solidFill>
                <a:latin typeface="Consolas"/>
              </a:defRPr>
            </a:pPr>
            <a:r>
              <a:t>          v</a:t>
            </a:r>
          </a:p>
          <a:p>
            <a:pPr>
              <a:spcAft>
                <a:spcPts val="0"/>
              </a:spcAft>
              <a:defRPr sz="1300">
                <a:solidFill>
                  <a:srgbClr val="1A1A1A"/>
                </a:solidFill>
                <a:latin typeface="Consolas"/>
              </a:defRPr>
            </a:pPr>
            <a:r>
              <a:t>   EVALUATION HARNESS     leakage-free scoring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Seven agents, seven evidence slices</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554480"/>
          <a:ext cx="10881360" cy="2871216"/>
        </p:xfrm>
        <a:graphic>
          <a:graphicData uri="http://schemas.openxmlformats.org/drawingml/2006/table">
            <a:tbl>
              <a:tblPr firstRow="1" bandRow="1">
                <a:tableStyleId>{5C22544A-7EE6-4342-B048-85BDC9FD1C3A}</a:tableStyleId>
              </a:tblPr>
              <a:tblGrid>
                <a:gridCol w="2011680"/>
                <a:gridCol w="4206240"/>
                <a:gridCol w="4663440"/>
              </a:tblGrid>
              <a:tr h="410173">
                <a:tc>
                  <a:txBody>
                    <a:bodyPr/>
                    <a:lstStyle/>
                    <a:p>
                      <a:pPr>
                        <a:defRPr sz="1300" b="1">
                          <a:solidFill>
                            <a:srgbClr val="FFFFFF"/>
                          </a:solidFill>
                        </a:defRPr>
                      </a:pPr>
                      <a:r>
                        <a:t>Agent</a:t>
                      </a:r>
                    </a:p>
                  </a:txBody>
                  <a:tcPr>
                    <a:solidFill>
                      <a:srgbClr val="1F3864"/>
                    </a:solidFill>
                  </a:tcPr>
                </a:tc>
                <a:tc>
                  <a:txBody>
                    <a:bodyPr/>
                    <a:lstStyle/>
                    <a:p>
                      <a:pPr>
                        <a:defRPr sz="1300" b="1">
                          <a:solidFill>
                            <a:srgbClr val="FFFFFF"/>
                          </a:solidFill>
                        </a:defRPr>
                      </a:pPr>
                      <a:r>
                        <a:t>Sees</a:t>
                      </a:r>
                    </a:p>
                  </a:txBody>
                  <a:tcPr>
                    <a:solidFill>
                      <a:srgbClr val="1F3864"/>
                    </a:solidFill>
                  </a:tcPr>
                </a:tc>
                <a:tc>
                  <a:txBody>
                    <a:bodyPr/>
                    <a:lstStyle/>
                    <a:p>
                      <a:pPr>
                        <a:defRPr sz="1300" b="1">
                          <a:solidFill>
                            <a:srgbClr val="FFFFFF"/>
                          </a:solidFill>
                        </a:defRPr>
                      </a:pPr>
                      <a:r>
                        <a:t>Produces</a:t>
                      </a:r>
                    </a:p>
                  </a:txBody>
                  <a:tcPr>
                    <a:solidFill>
                      <a:srgbClr val="1F3864"/>
                    </a:solidFill>
                  </a:tcPr>
                </a:tc>
              </a:tr>
              <a:tr h="410173">
                <a:tc>
                  <a:txBody>
                    <a:bodyPr/>
                    <a:lstStyle/>
                    <a:p>
                      <a:pPr>
                        <a:defRPr sz="1200">
                          <a:solidFill>
                            <a:srgbClr val="1A1A1A"/>
                          </a:solidFill>
                        </a:defRPr>
                      </a:pPr>
                      <a:r>
                        <a:t>Technical</a:t>
                      </a:r>
                    </a:p>
                  </a:txBody>
                  <a:tcPr>
                    <a:solidFill>
                      <a:srgbClr val="F7F9FC"/>
                    </a:solidFill>
                  </a:tcPr>
                </a:tc>
                <a:tc>
                  <a:txBody>
                    <a:bodyPr/>
                    <a:lstStyle/>
                    <a:p>
                      <a:pPr>
                        <a:defRPr sz="1200">
                          <a:solidFill>
                            <a:srgbClr val="1A1A1A"/>
                          </a:solidFill>
                        </a:defRPr>
                      </a:pPr>
                      <a:r>
                        <a:t>OHLCV + indicators</a:t>
                      </a:r>
                    </a:p>
                  </a:txBody>
                  <a:tcPr>
                    <a:solidFill>
                      <a:srgbClr val="F7F9FC"/>
                    </a:solidFill>
                  </a:tcPr>
                </a:tc>
                <a:tc>
                  <a:txBody>
                    <a:bodyPr/>
                    <a:lstStyle/>
                    <a:p>
                      <a:pPr>
                        <a:defRPr sz="1200">
                          <a:solidFill>
                            <a:srgbClr val="1A1A1A"/>
                          </a:solidFill>
                        </a:defRPr>
                      </a:pPr>
                      <a:r>
                        <a:t>score −10..+10, levels</a:t>
                      </a:r>
                    </a:p>
                  </a:txBody>
                  <a:tcPr>
                    <a:solidFill>
                      <a:srgbClr val="F7F9FC"/>
                    </a:solidFill>
                  </a:tcPr>
                </a:tc>
              </a:tr>
              <a:tr h="410173">
                <a:tc>
                  <a:txBody>
                    <a:bodyPr/>
                    <a:lstStyle/>
                    <a:p>
                      <a:pPr>
                        <a:defRPr sz="1200">
                          <a:solidFill>
                            <a:srgbClr val="1A1A1A"/>
                          </a:solidFill>
                        </a:defRPr>
                      </a:pPr>
                      <a:r>
                        <a:t>Fundamental</a:t>
                      </a:r>
                    </a:p>
                  </a:txBody>
                  <a:tcPr>
                    <a:solidFill>
                      <a:srgbClr val="FFFFFF"/>
                    </a:solidFill>
                  </a:tcPr>
                </a:tc>
                <a:tc>
                  <a:txBody>
                    <a:bodyPr/>
                    <a:lstStyle/>
                    <a:p>
                      <a:pPr>
                        <a:defRPr sz="1200">
                          <a:solidFill>
                            <a:srgbClr val="1A1A1A"/>
                          </a:solidFill>
                        </a:defRPr>
                      </a:pPr>
                      <a:r>
                        <a:t>SEBI-filtered fundamentals</a:t>
                      </a:r>
                    </a:p>
                  </a:txBody>
                  <a:tcPr>
                    <a:solidFill>
                      <a:srgbClr val="FFFFFF"/>
                    </a:solidFill>
                  </a:tcPr>
                </a:tc>
                <a:tc>
                  <a:txBody>
                    <a:bodyPr/>
                    <a:lstStyle/>
                    <a:p>
                      <a:pPr>
                        <a:defRPr sz="1200">
                          <a:solidFill>
                            <a:srgbClr val="1A1A1A"/>
                          </a:solidFill>
                        </a:defRPr>
                      </a:pPr>
                      <a:r>
                        <a:t>valuation, health</a:t>
                      </a:r>
                    </a:p>
                  </a:txBody>
                  <a:tcPr>
                    <a:solidFill>
                      <a:srgbClr val="FFFFFF"/>
                    </a:solidFill>
                  </a:tcPr>
                </a:tc>
              </a:tr>
              <a:tr h="410173">
                <a:tc>
                  <a:txBody>
                    <a:bodyPr/>
                    <a:lstStyle/>
                    <a:p>
                      <a:pPr>
                        <a:defRPr sz="1200">
                          <a:solidFill>
                            <a:srgbClr val="1A1A1A"/>
                          </a:solidFill>
                        </a:defRPr>
                      </a:pPr>
                      <a:r>
                        <a:t>Sentiment</a:t>
                      </a:r>
                    </a:p>
                  </a:txBody>
                  <a:tcPr>
                    <a:solidFill>
                      <a:srgbClr val="F7F9FC"/>
                    </a:solidFill>
                  </a:tcPr>
                </a:tc>
                <a:tc>
                  <a:txBody>
                    <a:bodyPr/>
                    <a:lstStyle/>
                    <a:p>
                      <a:pPr>
                        <a:defRPr sz="1200">
                          <a:solidFill>
                            <a:srgbClr val="1A1A1A"/>
                          </a:solidFill>
                        </a:defRPr>
                      </a:pPr>
                      <a:r>
                        <a:t>Deduped Indian headlines</a:t>
                      </a:r>
                    </a:p>
                  </a:txBody>
                  <a:tcPr>
                    <a:solidFill>
                      <a:srgbClr val="F7F9FC"/>
                    </a:solidFill>
                  </a:tcPr>
                </a:tc>
                <a:tc>
                  <a:txBody>
                    <a:bodyPr/>
                    <a:lstStyle/>
                    <a:p>
                      <a:pPr>
                        <a:defRPr sz="1200">
                          <a:solidFill>
                            <a:srgbClr val="1A1A1A"/>
                          </a:solidFill>
                        </a:defRPr>
                      </a:pPr>
                      <a:r>
                        <a:t>polarity, catalysts</a:t>
                      </a:r>
                    </a:p>
                  </a:txBody>
                  <a:tcPr>
                    <a:solidFill>
                      <a:srgbClr val="F7F9FC"/>
                    </a:solidFill>
                  </a:tcPr>
                </a:tc>
              </a:tr>
              <a:tr h="410173">
                <a:tc>
                  <a:txBody>
                    <a:bodyPr/>
                    <a:lstStyle/>
                    <a:p>
                      <a:pPr>
                        <a:defRPr sz="1200">
                          <a:solidFill>
                            <a:srgbClr val="1A1A1A"/>
                          </a:solidFill>
                        </a:defRPr>
                      </a:pPr>
                      <a:r>
                        <a:t>Macro</a:t>
                      </a:r>
                    </a:p>
                  </a:txBody>
                  <a:tcPr>
                    <a:solidFill>
                      <a:srgbClr val="FFFFFF"/>
                    </a:solidFill>
                  </a:tcPr>
                </a:tc>
                <a:tc>
                  <a:txBody>
                    <a:bodyPr/>
                    <a:lstStyle/>
                    <a:p>
                      <a:pPr>
                        <a:defRPr sz="1200">
                          <a:solidFill>
                            <a:srgbClr val="1A1A1A"/>
                          </a:solidFill>
                        </a:defRPr>
                      </a:pPr>
                      <a:r>
                        <a:t>RBI, USD/INR, crude, sectors</a:t>
                      </a:r>
                    </a:p>
                  </a:txBody>
                  <a:tcPr>
                    <a:solidFill>
                      <a:srgbClr val="FFFFFF"/>
                    </a:solidFill>
                  </a:tcPr>
                </a:tc>
                <a:tc>
                  <a:txBody>
                    <a:bodyPr/>
                    <a:lstStyle/>
                    <a:p>
                      <a:pPr>
                        <a:defRPr sz="1200">
                          <a:solidFill>
                            <a:srgbClr val="1A1A1A"/>
                          </a:solidFill>
                        </a:defRPr>
                      </a:pPr>
                      <a:r>
                        <a:t>Tailwind/Neutral/Headwind</a:t>
                      </a:r>
                    </a:p>
                  </a:txBody>
                  <a:tcPr>
                    <a:solidFill>
                      <a:srgbClr val="FFFFFF"/>
                    </a:solidFill>
                  </a:tcPr>
                </a:tc>
              </a:tr>
              <a:tr h="410173">
                <a:tc>
                  <a:txBody>
                    <a:bodyPr/>
                    <a:lstStyle/>
                    <a:p>
                      <a:pPr>
                        <a:defRPr sz="1200">
                          <a:solidFill>
                            <a:srgbClr val="1A1A1A"/>
                          </a:solidFill>
                        </a:defRPr>
                      </a:pPr>
                      <a:r>
                        <a:t>Bull / Bear</a:t>
                      </a:r>
                    </a:p>
                  </a:txBody>
                  <a:tcPr>
                    <a:solidFill>
                      <a:srgbClr val="F7F9FC"/>
                    </a:solidFill>
                  </a:tcPr>
                </a:tc>
                <a:tc>
                  <a:txBody>
                    <a:bodyPr/>
                    <a:lstStyle/>
                    <a:p>
                      <a:pPr>
                        <a:defRPr sz="1200">
                          <a:solidFill>
                            <a:srgbClr val="1A1A1A"/>
                          </a:solidFill>
                        </a:defRPr>
                      </a:pPr>
                      <a:r>
                        <a:t>All 4 reports + transcript</a:t>
                      </a:r>
                    </a:p>
                  </a:txBody>
                  <a:tcPr>
                    <a:solidFill>
                      <a:srgbClr val="F7F9FC"/>
                    </a:solidFill>
                  </a:tcPr>
                </a:tc>
                <a:tc>
                  <a:txBody>
                    <a:bodyPr/>
                    <a:lstStyle/>
                    <a:p>
                      <a:pPr>
                        <a:defRPr sz="1200">
                          <a:solidFill>
                            <a:srgbClr val="1A1A1A"/>
                          </a:solidFill>
                        </a:defRPr>
                      </a:pPr>
                      <a:r>
                        <a:t>case, target, rebuttal</a:t>
                      </a:r>
                    </a:p>
                  </a:txBody>
                  <a:tcPr>
                    <a:solidFill>
                      <a:srgbClr val="F7F9FC"/>
                    </a:solidFill>
                  </a:tcPr>
                </a:tc>
              </a:tr>
              <a:tr h="410178">
                <a:tc>
                  <a:txBody>
                    <a:bodyPr/>
                    <a:lstStyle/>
                    <a:p>
                      <a:pPr>
                        <a:defRPr sz="1200">
                          <a:solidFill>
                            <a:srgbClr val="1A1A1A"/>
                          </a:solidFill>
                        </a:defRPr>
                      </a:pPr>
                      <a:r>
                        <a:t>Risk Officer</a:t>
                      </a:r>
                    </a:p>
                  </a:txBody>
                  <a:tcPr>
                    <a:solidFill>
                      <a:srgbClr val="FFFFFF"/>
                    </a:solidFill>
                  </a:tcPr>
                </a:tc>
                <a:tc>
                  <a:txBody>
                    <a:bodyPr/>
                    <a:lstStyle/>
                    <a:p>
                      <a:pPr>
                        <a:defRPr sz="1200">
                          <a:solidFill>
                            <a:srgbClr val="1A1A1A"/>
                          </a:solidFill>
                        </a:defRPr>
                      </a:pPr>
                      <a:r>
                        <a:t>All 4 + full debate</a:t>
                      </a:r>
                    </a:p>
                  </a:txBody>
                  <a:tcPr>
                    <a:solidFill>
                      <a:srgbClr val="FFFFFF"/>
                    </a:solidFill>
                  </a:tcPr>
                </a:tc>
                <a:tc>
                  <a:txBody>
                    <a:bodyPr/>
                    <a:lstStyle/>
                    <a:p>
                      <a:pPr>
                        <a:defRPr sz="1200">
                          <a:solidFill>
                            <a:srgbClr val="1A1A1A"/>
                          </a:solidFill>
                        </a:defRPr>
                      </a:pPr>
                      <a:r>
                        <a:t>FinalForecast</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Leakage control 1 — as_of is enforced in code</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881360" cy="4206240"/>
          </a:xfrm>
          <a:prstGeom prst="rect">
            <a:avLst/>
          </a:prstGeom>
          <a:noFill/>
        </p:spPr>
        <p:txBody>
          <a:bodyPr wrap="square">
            <a:spAutoFit/>
          </a:bodyPr>
          <a:lstStyle/>
          <a:p>
            <a:pPr>
              <a:spcAft>
                <a:spcPts val="1200"/>
              </a:spcAft>
              <a:defRPr sz="1800" b="0">
                <a:solidFill>
                  <a:srgbClr val="1A1A1A"/>
                </a:solidFill>
              </a:defRPr>
            </a:pPr>
            <a:r>
              <a:t>• Every data function takes an as_of date and cannot return a later row.</a:t>
            </a:r>
          </a:p>
          <a:p>
            <a:pPr>
              <a:spcAft>
                <a:spcPts val="1200"/>
              </a:spcAft>
              <a:defRPr sz="1800" b="0">
                <a:solidFill>
                  <a:srgbClr val="1A1A1A"/>
                </a:solidFill>
              </a:defRPr>
            </a:pPr>
            <a:r>
              <a:t>• Enforced in the DATA LAYER — never by prompting.</a:t>
            </a:r>
          </a:p>
          <a:p>
            <a:pPr lvl="1">
              <a:spcAft>
                <a:spcPts val="600"/>
              </a:spcAft>
              <a:defRPr sz="1600" b="0">
                <a:solidFill>
                  <a:srgbClr val="6B7280"/>
                </a:solidFill>
              </a:defRPr>
            </a:pPr>
            <a:r>
              <a:t>• Prompting is a secondary measure. It is not a control and we don't claim it is.</a:t>
            </a:r>
          </a:p>
          <a:p>
            <a:pPr>
              <a:spcAft>
                <a:spcPts val="1200"/>
              </a:spcAft>
              <a:defRPr sz="1800" b="0">
                <a:solidFill>
                  <a:srgbClr val="1A1A1A"/>
                </a:solidFill>
              </a:defRPr>
            </a:pPr>
            <a:r>
              <a:t>• Realised outcomes live in ONE quarantined module.</a:t>
            </a:r>
          </a:p>
          <a:p>
            <a:pPr lvl="1">
              <a:spcAft>
                <a:spcPts val="600"/>
              </a:spcAft>
              <a:defRPr sz="1600" b="0">
                <a:solidFill>
                  <a:srgbClr val="6B7280"/>
                </a:solidFill>
              </a:defRPr>
            </a:pPr>
            <a:r>
              <a:t>• A test parses every forecasting module's imports and asserts none can reach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Leakage control 2 — a point-in-time universe</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881360" cy="4206240"/>
          </a:xfrm>
          <a:prstGeom prst="rect">
            <a:avLst/>
          </a:prstGeom>
          <a:noFill/>
        </p:spPr>
        <p:txBody>
          <a:bodyPr wrap="square">
            <a:spAutoFit/>
          </a:bodyPr>
          <a:lstStyle/>
          <a:p>
            <a:pPr>
              <a:spcAft>
                <a:spcPts val="1200"/>
              </a:spcAft>
              <a:defRPr sz="1800" b="0">
                <a:solidFill>
                  <a:srgbClr val="1A1A1A"/>
                </a:solidFill>
              </a:defRPr>
            </a:pPr>
            <a:r>
              <a:t>• Test universe = stocks that ACTUALLY TRADED on each as_of date.</a:t>
            </a:r>
          </a:p>
          <a:p>
            <a:pPr lvl="1">
              <a:spcAft>
                <a:spcPts val="600"/>
              </a:spcAft>
              <a:defRPr sz="1600" b="0">
                <a:solidFill>
                  <a:srgbClr val="6B7280"/>
                </a:solidFill>
              </a:defRPr>
            </a:pPr>
            <a:r>
              <a:t>• read from that day's NSE bhavcopy, not today's NIFTY 50 list</a:t>
            </a:r>
          </a:p>
          <a:p>
            <a:pPr>
              <a:spcAft>
                <a:spcPts val="1200"/>
              </a:spcAft>
              <a:defRPr sz="1800" b="0">
                <a:solidFill>
                  <a:srgbClr val="1A1A1A"/>
                </a:solidFill>
              </a:defRPr>
            </a:pPr>
            <a:r>
              <a:t>• Today's index membership is textbook survivorship bias:</a:t>
            </a:r>
          </a:p>
          <a:p>
            <a:pPr lvl="1">
              <a:spcAft>
                <a:spcPts val="600"/>
              </a:spcAft>
              <a:defRPr sz="1600" b="0">
                <a:solidFill>
                  <a:srgbClr val="6B7280"/>
                </a:solidFill>
              </a:defRPr>
            </a:pPr>
            <a:r>
              <a:t>• it silently excludes the delisted, merged and demoted — the losers</a:t>
            </a:r>
          </a:p>
          <a:p>
            <a:pPr>
              <a:spcAft>
                <a:spcPts val="1200"/>
              </a:spcAft>
              <a:defRPr sz="2000" b="1">
                <a:solidFill>
                  <a:srgbClr val="B26B00"/>
                </a:solidFill>
              </a:defRPr>
            </a:pPr>
            <a:r>
              <a:t>The bhavcopy is a complete daily snapshot, so we can PROVE the universe was right.</a:t>
            </a:r>
          </a:p>
          <a:p>
            <a:pPr>
              <a:spcAft>
                <a:spcPts val="1200"/>
              </a:spcAft>
              <a:defRPr sz="1800" b="0">
                <a:solidFill>
                  <a:srgbClr val="1A1A1A"/>
                </a:solidFill>
              </a:defRPr>
            </a:pPr>
            <a:r>
              <a:t>• The frozen test set records its exclusions, e.g. TATAMOTORS on 2025-11-06.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Leakage control 3 — the SEBI filing rule</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881360" cy="4206240"/>
          </a:xfrm>
          <a:prstGeom prst="rect">
            <a:avLst/>
          </a:prstGeom>
          <a:noFill/>
        </p:spPr>
        <p:txBody>
          <a:bodyPr wrap="square">
            <a:spAutoFit/>
          </a:bodyPr>
          <a:lstStyle/>
          <a:p>
            <a:pPr>
              <a:spcAft>
                <a:spcPts val="1200"/>
              </a:spcAft>
              <a:defRPr sz="1800" b="0">
                <a:solidFill>
                  <a:srgbClr val="1A1A1A"/>
                </a:solidFill>
              </a:defRPr>
            </a:pPr>
            <a:r>
              <a:t>• SEBI LODR Reg. 33: quarterly results filed within 45 days of quarter end.</a:t>
            </a:r>
          </a:p>
          <a:p>
            <a:pPr lvl="1">
              <a:spcAft>
                <a:spcPts val="600"/>
              </a:spcAft>
              <a:defRPr sz="1600" b="0">
                <a:solidFill>
                  <a:srgbClr val="6B7280"/>
                </a:solidFill>
              </a:defRPr>
            </a:pPr>
            <a:r>
              <a:t>• Q3 numbers (quarter ends 31 Dec) were NOT public until ~14 Feb.</a:t>
            </a:r>
          </a:p>
          <a:p>
            <a:pPr>
              <a:spcAft>
                <a:spcPts val="1200"/>
              </a:spcAft>
              <a:defRPr sz="1800" b="0">
                <a:solidFill>
                  <a:srgbClr val="1A1A1A"/>
                </a:solidFill>
              </a:defRPr>
            </a:pPr>
            <a:r>
              <a:t>• Rule: a quarter is visible only if as_of ≥ quarter_end + 45 days.</a:t>
            </a:r>
          </a:p>
          <a:p>
            <a:pPr>
              <a:spcAft>
                <a:spcPts val="1200"/>
              </a:spcAft>
              <a:defRPr sz="2000" b="1">
                <a:solidFill>
                  <a:srgbClr val="B26B00"/>
                </a:solidFill>
              </a:defRPr>
            </a:pPr>
            <a:r>
              <a:t>And a stricter one the data forced on us:</a:t>
            </a:r>
          </a:p>
          <a:p>
            <a:pPr>
              <a:spcAft>
                <a:spcPts val="1200"/>
              </a:spcAft>
              <a:defRPr sz="1800" b="0">
                <a:solidFill>
                  <a:srgbClr val="1A1A1A"/>
                </a:solidFill>
              </a:defRPr>
            </a:pPr>
            <a:r>
              <a:t>• yfinance serves TODAY's P/E and market cap — not what was knowable then.</a:t>
            </a:r>
          </a:p>
          <a:p>
            <a:pPr lvl="1">
              <a:spcAft>
                <a:spcPts val="600"/>
              </a:spcAft>
              <a:defRPr sz="1600" b="0">
                <a:solidFill>
                  <a:srgbClr val="6B7280"/>
                </a:solidFill>
              </a:defRPr>
            </a:pPr>
            <a:r>
              <a:t>• So in backtest mode those fields are WITHHELD entirely.</a:t>
            </a:r>
          </a:p>
          <a:p>
            <a:pPr lvl="1">
              <a:spcAft>
                <a:spcPts val="600"/>
              </a:spcAft>
              <a:defRPr sz="1600" b="0">
                <a:solidFill>
                  <a:srgbClr val="6B7280"/>
                </a:solidFill>
              </a:defRPr>
            </a:pPr>
            <a:r>
              <a:t>• Fundamental evidence is often empty. That is the honest answer, and we report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The reconciliation gate</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881360" cy="4206240"/>
          </a:xfrm>
          <a:prstGeom prst="rect">
            <a:avLst/>
          </a:prstGeom>
          <a:noFill/>
        </p:spPr>
        <p:txBody>
          <a:bodyPr wrap="square">
            <a:spAutoFit/>
          </a:bodyPr>
          <a:lstStyle/>
          <a:p>
            <a:pPr>
              <a:spcAft>
                <a:spcPts val="1200"/>
              </a:spcAft>
              <a:defRPr sz="1700" b="0">
                <a:solidFill>
                  <a:srgbClr val="1A1A1A"/>
                </a:solidFill>
              </a:defRPr>
            </a:pPr>
            <a:r>
              <a:t>• Every numeric claim is re-checked against its cached source before it propagates.</a:t>
            </a:r>
          </a:p>
          <a:p>
            <a:pPr lvl="1">
              <a:spcAft>
                <a:spcPts val="600"/>
              </a:spcAft>
              <a:defRPr sz="1500" b="0">
                <a:solidFill>
                  <a:srgbClr val="6B7280"/>
                </a:solidFill>
              </a:defRPr>
            </a:pPr>
            <a:r>
              <a:t>• A hallucinated adjective is embarrassing. A hallucinated NUMBER is invisible.</a:t>
            </a:r>
          </a:p>
          <a:p>
            <a:pPr>
              <a:spcAft>
                <a:spcPts val="1200"/>
              </a:spcAft>
              <a:defRPr sz="1700" b="0">
                <a:solidFill>
                  <a:srgbClr val="1A1A1A"/>
                </a:solidFill>
              </a:defRPr>
            </a:pPr>
            <a:r>
              <a:t>• Catches: value mismatch · MAGNITUDE (lakh/crore 100×) · inverted ranges · fabricated citations</a:t>
            </a:r>
          </a:p>
          <a:p>
            <a:pPr>
              <a:spcAft>
                <a:spcPts val="1200"/>
              </a:spcAft>
              <a:defRPr sz="1900" b="1">
                <a:solidFill>
                  <a:srgbClr val="B26B00"/>
                </a:solidFill>
              </a:defRPr>
            </a:pPr>
            <a:r>
              <a:t>It FLAGS — it never silently repairs.</a:t>
            </a:r>
          </a:p>
          <a:p>
            <a:pPr>
              <a:spcAft>
                <a:spcPts val="1200"/>
              </a:spcAft>
              <a:defRPr sz="1700" b="0">
                <a:solidFill>
                  <a:srgbClr val="1A1A1A"/>
                </a:solidFill>
              </a:defRPr>
            </a:pPr>
            <a:r>
              <a:t>• Clamping a bad target would measure our clamp, not the model.</a:t>
            </a:r>
          </a:p>
          <a:p>
            <a:pPr>
              <a:spcAft>
                <a:spcPts val="1200"/>
              </a:spcAft>
              <a:defRPr sz="1700" b="0">
                <a:solidFill>
                  <a:srgbClr val="1A1A1A"/>
                </a:solidFill>
              </a:defRPr>
            </a:pPr>
            <a:r>
              <a:t>• Unperformable checks are recorded as 'unverifiable', never as passes.</a:t>
            </a:r>
          </a:p>
          <a:p>
            <a:pPr>
              <a:spcAft>
                <a:spcPts val="1200"/>
              </a:spcAft>
              <a:defRPr sz="1700" b="0">
                <a:solidFill>
                  <a:srgbClr val="1A1A1A"/>
                </a:solidFill>
              </a:defRPr>
            </a:pPr>
            <a:r>
              <a:t>• Proven by attack: the test suite injects fakes and asserts each is caught.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How we score</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881360" cy="4206240"/>
          </a:xfrm>
          <a:prstGeom prst="rect">
            <a:avLst/>
          </a:prstGeom>
          <a:noFill/>
        </p:spPr>
        <p:txBody>
          <a:bodyPr wrap="square">
            <a:spAutoFit/>
          </a:bodyPr>
          <a:lstStyle/>
          <a:p>
            <a:pPr>
              <a:spcAft>
                <a:spcPts val="1200"/>
              </a:spcAft>
              <a:defRPr sz="1700" b="0">
                <a:solidFill>
                  <a:srgbClr val="1A1A1A"/>
                </a:solidFill>
              </a:defRPr>
            </a:pPr>
            <a:r>
              <a:t>• Directional accuracy — the headline</a:t>
            </a:r>
          </a:p>
          <a:p>
            <a:pPr>
              <a:spcAft>
                <a:spcPts val="1200"/>
              </a:spcAft>
              <a:defRPr sz="1700" b="0">
                <a:solidFill>
                  <a:srgbClr val="1A1A1A"/>
                </a:solidFill>
              </a:defRPr>
            </a:pPr>
            <a:r>
              <a:t>• NIFTY-relative accuracy — reported ALONGSIDE it, always</a:t>
            </a:r>
          </a:p>
          <a:p>
            <a:pPr>
              <a:spcAft>
                <a:spcPts val="1200"/>
              </a:spcAft>
              <a:defRPr sz="1700" b="0">
                <a:solidFill>
                  <a:srgbClr val="1A1A1A"/>
                </a:solidFill>
              </a:defRPr>
            </a:pPr>
            <a:r>
              <a:t>• MAE / MAPE on the target, in rupees</a:t>
            </a:r>
          </a:p>
          <a:p>
            <a:pPr>
              <a:spcAft>
                <a:spcPts val="1200"/>
              </a:spcAft>
              <a:defRPr sz="1700" b="0">
                <a:solidFill>
                  <a:srgbClr val="1A1A1A"/>
                </a:solidFill>
              </a:defRPr>
            </a:pPr>
            <a:r>
              <a:t>• Brier score + reliability curve — calibration</a:t>
            </a:r>
          </a:p>
          <a:p>
            <a:pPr>
              <a:spcAft>
                <a:spcPts val="1200"/>
              </a:spcAft>
              <a:defRPr sz="1700" b="0">
                <a:solidFill>
                  <a:srgbClr val="1A1A1A"/>
                </a:solidFill>
              </a:defRPr>
            </a:pPr>
            <a:r>
              <a:t>• Cost per forecast: tokens, calls, seconds</a:t>
            </a:r>
          </a:p>
          <a:p>
            <a:pPr>
              <a:spcAft>
                <a:spcPts val="1200"/>
              </a:spcAft>
              <a:defRPr sz="1900" b="1">
                <a:solidFill>
                  <a:srgbClr val="B26B00"/>
                </a:solidFill>
              </a:defRPr>
            </a:pPr>
            <a:r>
              <a:t>Horizon = 21 TRADING SESSIONS, not 21 calendar days.</a:t>
            </a:r>
          </a:p>
          <a:p>
            <a:pPr>
              <a:spcAft>
                <a:spcPts val="1200"/>
              </a:spcAft>
              <a:defRPr sz="1700" b="0">
                <a:solidFill>
                  <a:srgbClr val="1A1A1A"/>
                </a:solidFill>
              </a:defRPr>
            </a:pPr>
            <a:r>
              <a:t>• ≥3 repeats per configuration, unique cache nonce each.</a:t>
            </a:r>
          </a:p>
          <a:p>
            <a:pPr lvl="1">
              <a:spcAft>
                <a:spcPts val="600"/>
              </a:spcAft>
              <a:defRPr sz="1500" b="0">
                <a:solidFill>
                  <a:srgbClr val="6B7280"/>
                </a:solidFill>
              </a:defRPr>
            </a:pPr>
            <a:r>
              <a:t>• Without the nonce, repeats hit the cache and report zero variance.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Descriptive findings — test set base rate and bias</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881360" cy="548640"/>
          </a:xfrm>
          <a:prstGeom prst="rect">
            <a:avLst/>
          </a:prstGeom>
          <a:noFill/>
        </p:spPr>
        <p:txBody>
          <a:bodyPr wrap="square">
            <a:spAutoFit/>
          </a:bodyPr>
          <a:lstStyle/>
          <a:p>
            <a:pPr>
              <a:defRPr sz="1600" i="1">
                <a:solidFill>
                  <a:srgbClr val="6B7280"/>
                </a:solidFill>
              </a:defRPr>
            </a:pPr>
            <a:r>
              <a:t>Frozen post-cutoff test set (68 cases, 2025-11 to 2025-12)</a:t>
            </a:r>
          </a:p>
        </p:txBody>
      </p:sp>
      <p:sp>
        <p:nvSpPr>
          <p:cNvPr id="5" name="TextBox 4"/>
          <p:cNvSpPr txBox="1"/>
          <p:nvPr/>
        </p:nvSpPr>
        <p:spPr>
          <a:xfrm>
            <a:off x="640080" y="2057400"/>
            <a:ext cx="10881360" cy="4206240"/>
          </a:xfrm>
          <a:prstGeom prst="rect">
            <a:avLst/>
          </a:prstGeom>
          <a:noFill/>
        </p:spPr>
        <p:txBody>
          <a:bodyPr wrap="square">
            <a:spAutoFit/>
          </a:bodyPr>
          <a:lstStyle/>
          <a:p>
            <a:pPr>
              <a:spcAft>
                <a:spcPts val="1200"/>
              </a:spcAft>
              <a:defRPr sz="1800" b="0">
                <a:solidFill>
                  <a:srgbClr val="1A1A1A"/>
                </a:solidFill>
              </a:defRPr>
            </a:pPr>
            <a:r>
              <a:t>• Market base rate: 40 of 68 outcomes (58.82%) were DOWN; 28 of 68 (41.18%) UP.</a:t>
            </a:r>
          </a:p>
          <a:p>
            <a:pPr lvl="1">
              <a:spcAft>
                <a:spcPts val="600"/>
              </a:spcAft>
              <a:defRPr sz="1600" b="0">
                <a:solidFill>
                  <a:srgbClr val="6B7280"/>
                </a:solidFill>
              </a:defRPr>
            </a:pPr>
            <a:r>
              <a:t>• An uninformative 'always down' rule scores 58.82% — higher than any model.</a:t>
            </a:r>
          </a:p>
          <a:p>
            <a:pPr>
              <a:spcAft>
                <a:spcPts val="1200"/>
              </a:spcAft>
              <a:defRPr sz="1800" b="0">
                <a:solidFill>
                  <a:srgbClr val="1A1A1A"/>
                </a:solidFill>
              </a:defRPr>
            </a:pPr>
            <a:r>
              <a:t>• Single-LLM baseline shows extreme bullish bias: 66 of 68 (97.06%) calls were UP.</a:t>
            </a:r>
          </a:p>
          <a:p>
            <a:pPr lvl="1">
              <a:spcAft>
                <a:spcPts val="600"/>
              </a:spcAft>
              <a:defRPr sz="1600" b="0">
                <a:solidFill>
                  <a:srgbClr val="6B7280"/>
                </a:solidFill>
              </a:defRPr>
            </a:pPr>
            <a:r>
              <a:t>• Its 41.18% accuracy is purely an artifact of matching the market's 41.18% up base rate.</a:t>
            </a:r>
          </a:p>
          <a:p>
            <a:pPr>
              <a:spcAft>
                <a:spcPts val="1200"/>
              </a:spcAft>
              <a:defRPr sz="1800" b="0">
                <a:solidFill>
                  <a:srgbClr val="1A1A1A"/>
                </a:solidFill>
              </a:defRPr>
            </a:pPr>
            <a:r>
              <a:t>• Multi-agent with debate moderates bias: 44 UP / 24 DOWN (64.71% up); no-debate: 55 UP (80.88%).</a:t>
            </a:r>
          </a:p>
          <a:p>
            <a:pPr>
              <a:spcAft>
                <a:spcPts val="1200"/>
              </a:spcAft>
              <a:defRPr sz="1800" b="0">
                <a:solidFill>
                  <a:srgbClr val="1A1A1A"/>
                </a:solidFill>
              </a:defRPr>
            </a:pPr>
            <a:r>
              <a:t>• Brier no-skill reference floor is 0.2500 (uninformative 50/50 forecast).</a:t>
            </a:r>
          </a:p>
          <a:p>
            <a:pPr lvl="1">
              <a:spcAft>
                <a:spcPts val="600"/>
              </a:spcAft>
              <a:defRPr sz="1600" b="0">
                <a:solidFill>
                  <a:srgbClr val="6B7280"/>
                </a:solidFill>
              </a:defRPr>
            </a:pPr>
            <a:r>
              <a:t>• Realised: multiagent 0.2593, baseline 0.2787, multiagent-nodebate 0.2880.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651760"/>
            <a:ext cx="10515600" cy="1645920"/>
          </a:xfrm>
          <a:prstGeom prst="rect">
            <a:avLst/>
          </a:prstGeom>
          <a:noFill/>
        </p:spPr>
        <p:txBody>
          <a:bodyPr wrap="square">
            <a:spAutoFit/>
          </a:bodyPr>
          <a:lstStyle/>
          <a:p>
            <a:pPr>
              <a:defRPr sz="1400" b="1">
                <a:solidFill>
                  <a:srgbClr val="B26B00"/>
                </a:solidFill>
              </a:defRPr>
            </a:pPr>
            <a:r>
              <a:t>DEMO</a:t>
            </a:r>
          </a:p>
          <a:p>
            <a:pPr>
              <a:defRPr sz="3600" b="1">
                <a:solidFill>
                  <a:srgbClr val="1F3864"/>
                </a:solidFill>
              </a:defRPr>
            </a:pPr>
            <a:r>
              <a:t>The system, running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Results across all configurations</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554480"/>
          <a:ext cx="11155680" cy="2487168"/>
        </p:xfrm>
        <a:graphic>
          <a:graphicData uri="http://schemas.openxmlformats.org/drawingml/2006/table">
            <a:tbl>
              <a:tblPr firstRow="1" bandRow="1">
                <a:tableStyleId>{5C22544A-7EE6-4342-B048-85BDC9FD1C3A}</a:tableStyleId>
              </a:tblPr>
              <a:tblGrid>
                <a:gridCol w="3200400"/>
                <a:gridCol w="1554480"/>
                <a:gridCol w="1554480"/>
                <a:gridCol w="1280160"/>
                <a:gridCol w="2103120"/>
                <a:gridCol w="1463040"/>
              </a:tblGrid>
              <a:tr h="414528">
                <a:tc>
                  <a:txBody>
                    <a:bodyPr/>
                    <a:lstStyle/>
                    <a:p>
                      <a:pPr>
                        <a:defRPr sz="1300" b="1">
                          <a:solidFill>
                            <a:srgbClr val="FFFFFF"/>
                          </a:solidFill>
                        </a:defRPr>
                      </a:pPr>
                      <a:r>
                        <a:t>System</a:t>
                      </a:r>
                    </a:p>
                  </a:txBody>
                  <a:tcPr>
                    <a:solidFill>
                      <a:srgbClr val="1F3864"/>
                    </a:solidFill>
                  </a:tcPr>
                </a:tc>
                <a:tc>
                  <a:txBody>
                    <a:bodyPr/>
                    <a:lstStyle/>
                    <a:p>
                      <a:pPr>
                        <a:defRPr sz="1300" b="1">
                          <a:solidFill>
                            <a:srgbClr val="FFFFFF"/>
                          </a:solidFill>
                        </a:defRPr>
                      </a:pPr>
                      <a:r>
                        <a:t>Dir. acc</a:t>
                      </a:r>
                    </a:p>
                  </a:txBody>
                  <a:tcPr>
                    <a:solidFill>
                      <a:srgbClr val="1F3864"/>
                    </a:solidFill>
                  </a:tcPr>
                </a:tc>
                <a:tc>
                  <a:txBody>
                    <a:bodyPr/>
                    <a:lstStyle/>
                    <a:p>
                      <a:pPr>
                        <a:defRPr sz="1300" b="1">
                          <a:solidFill>
                            <a:srgbClr val="FFFFFF"/>
                          </a:solidFill>
                        </a:defRPr>
                      </a:pPr>
                      <a:r>
                        <a:t>vs NIFTY</a:t>
                      </a:r>
                    </a:p>
                  </a:txBody>
                  <a:tcPr>
                    <a:solidFill>
                      <a:srgbClr val="1F3864"/>
                    </a:solidFill>
                  </a:tcPr>
                </a:tc>
                <a:tc>
                  <a:txBody>
                    <a:bodyPr/>
                    <a:lstStyle/>
                    <a:p>
                      <a:pPr>
                        <a:defRPr sz="1300" b="1">
                          <a:solidFill>
                            <a:srgbClr val="FFFFFF"/>
                          </a:solidFill>
                        </a:defRPr>
                      </a:pPr>
                      <a:r>
                        <a:t>Brier</a:t>
                      </a:r>
                    </a:p>
                  </a:txBody>
                  <a:tcPr>
                    <a:solidFill>
                      <a:srgbClr val="1F3864"/>
                    </a:solidFill>
                  </a:tcPr>
                </a:tc>
                <a:tc>
                  <a:txBody>
                    <a:bodyPr/>
                    <a:lstStyle/>
                    <a:p>
                      <a:pPr>
                        <a:defRPr sz="1300" b="1">
                          <a:solidFill>
                            <a:srgbClr val="FFFFFF"/>
                          </a:solidFill>
                        </a:defRPr>
                      </a:pPr>
                      <a:r>
                        <a:t>95% Date-Block CI</a:t>
                      </a:r>
                    </a:p>
                  </a:txBody>
                  <a:tcPr>
                    <a:solidFill>
                      <a:srgbClr val="1F3864"/>
                    </a:solidFill>
                  </a:tcPr>
                </a:tc>
                <a:tc>
                  <a:txBody>
                    <a:bodyPr/>
                    <a:lstStyle/>
                    <a:p>
                      <a:pPr>
                        <a:defRPr sz="1300" b="1">
                          <a:solidFill>
                            <a:srgbClr val="FFFFFF"/>
                          </a:solidFill>
                        </a:defRPr>
                      </a:pPr>
                      <a:r>
                        <a:t>Tokens/fc</a:t>
                      </a:r>
                    </a:p>
                  </a:txBody>
                  <a:tcPr>
                    <a:solidFill>
                      <a:srgbClr val="1F3864"/>
                    </a:solidFill>
                  </a:tcPr>
                </a:tc>
              </a:tr>
              <a:tr h="414528">
                <a:tc>
                  <a:txBody>
                    <a:bodyPr/>
                    <a:lstStyle/>
                    <a:p>
                      <a:pPr>
                        <a:defRPr sz="1200">
                          <a:solidFill>
                            <a:srgbClr val="1A1A1A"/>
                          </a:solidFill>
                        </a:defRPr>
                      </a:pPr>
                      <a:r>
                        <a:t>Naive — momentum</a:t>
                      </a:r>
                    </a:p>
                  </a:txBody>
                  <a:tcPr>
                    <a:solidFill>
                      <a:srgbClr val="F7F9FC"/>
                    </a:solidFill>
                  </a:tcPr>
                </a:tc>
                <a:tc>
                  <a:txBody>
                    <a:bodyPr/>
                    <a:lstStyle/>
                    <a:p>
                      <a:pPr>
                        <a:defRPr sz="1200">
                          <a:solidFill>
                            <a:srgbClr val="1A1A1A"/>
                          </a:solidFill>
                        </a:defRPr>
                      </a:pPr>
                      <a:r>
                        <a:t>48.5%</a:t>
                      </a:r>
                    </a:p>
                  </a:txBody>
                  <a:tcPr>
                    <a:solidFill>
                      <a:srgbClr val="F7F9FC"/>
                    </a:solidFill>
                  </a:tcPr>
                </a:tc>
                <a:tc>
                  <a:txBody>
                    <a:bodyPr/>
                    <a:lstStyle/>
                    <a:p>
                      <a:pPr>
                        <a:defRPr sz="1200">
                          <a:solidFill>
                            <a:srgbClr val="1A1A1A"/>
                          </a:solidFill>
                        </a:defRPr>
                      </a:pPr>
                      <a:r>
                        <a:t>38.2%</a:t>
                      </a:r>
                    </a:p>
                  </a:txBody>
                  <a:tcPr>
                    <a:solidFill>
                      <a:srgbClr val="F7F9FC"/>
                    </a:solidFill>
                  </a:tcPr>
                </a:tc>
                <a:tc>
                  <a:txBody>
                    <a:bodyPr/>
                    <a:lstStyle/>
                    <a:p>
                      <a:pPr>
                        <a:defRPr sz="1200">
                          <a:solidFill>
                            <a:srgbClr val="1A1A1A"/>
                          </a:solidFill>
                        </a:defRPr>
                      </a:pPr>
                      <a:r>
                        <a:t>0.2601</a:t>
                      </a:r>
                    </a:p>
                  </a:txBody>
                  <a:tcPr>
                    <a:solidFill>
                      <a:srgbClr val="F7F9FC"/>
                    </a:solidFill>
                  </a:tcPr>
                </a:tc>
                <a:tc>
                  <a:txBody>
                    <a:bodyPr/>
                    <a:lstStyle/>
                    <a:p>
                      <a:pPr>
                        <a:defRPr sz="1200">
                          <a:solidFill>
                            <a:srgbClr val="1A1A1A"/>
                          </a:solidFill>
                        </a:defRPr>
                      </a:pPr>
                      <a:r>
                        <a:t>[36.76, 60.29]%</a:t>
                      </a:r>
                    </a:p>
                  </a:txBody>
                  <a:tcPr>
                    <a:solidFill>
                      <a:srgbClr val="F7F9FC"/>
                    </a:solidFill>
                  </a:tcPr>
                </a:tc>
                <a:tc>
                  <a:txBody>
                    <a:bodyPr/>
                    <a:lstStyle/>
                    <a:p>
                      <a:pPr>
                        <a:defRPr sz="1200">
                          <a:solidFill>
                            <a:srgbClr val="1A1A1A"/>
                          </a:solidFill>
                        </a:defRPr>
                      </a:pPr>
                      <a:r>
                        <a:t>0</a:t>
                      </a:r>
                    </a:p>
                  </a:txBody>
                  <a:tcPr>
                    <a:solidFill>
                      <a:srgbClr val="F7F9FC"/>
                    </a:solidFill>
                  </a:tcPr>
                </a:tc>
              </a:tr>
              <a:tr h="414528">
                <a:tc>
                  <a:txBody>
                    <a:bodyPr/>
                    <a:lstStyle/>
                    <a:p>
                      <a:pPr>
                        <a:defRPr sz="1200">
                          <a:solidFill>
                            <a:srgbClr val="1A1A1A"/>
                          </a:solidFill>
                        </a:defRPr>
                      </a:pPr>
                      <a:r>
                        <a:t>Naive — always up</a:t>
                      </a:r>
                    </a:p>
                  </a:txBody>
                  <a:tcPr>
                    <a:solidFill>
                      <a:srgbClr val="FFFFFF"/>
                    </a:solidFill>
                  </a:tcPr>
                </a:tc>
                <a:tc>
                  <a:txBody>
                    <a:bodyPr/>
                    <a:lstStyle/>
                    <a:p>
                      <a:pPr>
                        <a:defRPr sz="1200">
                          <a:solidFill>
                            <a:srgbClr val="1A1A1A"/>
                          </a:solidFill>
                        </a:defRPr>
                      </a:pPr>
                      <a:r>
                        <a:t>41.2%</a:t>
                      </a:r>
                    </a:p>
                  </a:txBody>
                  <a:tcPr>
                    <a:solidFill>
                      <a:srgbClr val="FFFFFF"/>
                    </a:solidFill>
                  </a:tcPr>
                </a:tc>
                <a:tc>
                  <a:txBody>
                    <a:bodyPr/>
                    <a:lstStyle/>
                    <a:p>
                      <a:pPr>
                        <a:defRPr sz="1200">
                          <a:solidFill>
                            <a:srgbClr val="1A1A1A"/>
                          </a:solidFill>
                        </a:defRPr>
                      </a:pPr>
                      <a:r>
                        <a:t>39.7%</a:t>
                      </a:r>
                    </a:p>
                  </a:txBody>
                  <a:tcPr>
                    <a:solidFill>
                      <a:srgbClr val="FFFFFF"/>
                    </a:solidFill>
                  </a:tcPr>
                </a:tc>
                <a:tc>
                  <a:txBody>
                    <a:bodyPr/>
                    <a:lstStyle/>
                    <a:p>
                      <a:pPr>
                        <a:defRPr sz="1200">
                          <a:solidFill>
                            <a:srgbClr val="1A1A1A"/>
                          </a:solidFill>
                        </a:defRPr>
                      </a:pPr>
                      <a:r>
                        <a:t>0.2776</a:t>
                      </a:r>
                    </a:p>
                  </a:txBody>
                  <a:tcPr>
                    <a:solidFill>
                      <a:srgbClr val="FFFFFF"/>
                    </a:solidFill>
                  </a:tcPr>
                </a:tc>
                <a:tc>
                  <a:txBody>
                    <a:bodyPr/>
                    <a:lstStyle/>
                    <a:p>
                      <a:pPr>
                        <a:defRPr sz="1200">
                          <a:solidFill>
                            <a:srgbClr val="1A1A1A"/>
                          </a:solidFill>
                        </a:defRPr>
                      </a:pPr>
                      <a:r>
                        <a:t>[29.41, 52.94]%</a:t>
                      </a:r>
                    </a:p>
                  </a:txBody>
                  <a:tcPr>
                    <a:solidFill>
                      <a:srgbClr val="FFFFFF"/>
                    </a:solidFill>
                  </a:tcPr>
                </a:tc>
                <a:tc>
                  <a:txBody>
                    <a:bodyPr/>
                    <a:lstStyle/>
                    <a:p>
                      <a:pPr>
                        <a:defRPr sz="1200">
                          <a:solidFill>
                            <a:srgbClr val="1A1A1A"/>
                          </a:solidFill>
                        </a:defRPr>
                      </a:pPr>
                      <a:r>
                        <a:t>0</a:t>
                      </a:r>
                    </a:p>
                  </a:txBody>
                  <a:tcPr>
                    <a:solidFill>
                      <a:srgbClr val="FFFFFF"/>
                    </a:solidFill>
                  </a:tcPr>
                </a:tc>
              </a:tr>
              <a:tr h="414528">
                <a:tc>
                  <a:txBody>
                    <a:bodyPr/>
                    <a:lstStyle/>
                    <a:p>
                      <a:pPr>
                        <a:defRPr sz="1200">
                          <a:solidFill>
                            <a:srgbClr val="1A1A1A"/>
                          </a:solidFill>
                        </a:defRPr>
                      </a:pPr>
                      <a:r>
                        <a:t>Single-LLM baseline</a:t>
                      </a:r>
                    </a:p>
                  </a:txBody>
                  <a:tcPr>
                    <a:solidFill>
                      <a:srgbClr val="F7F9FC"/>
                    </a:solidFill>
                  </a:tcPr>
                </a:tc>
                <a:tc>
                  <a:txBody>
                    <a:bodyPr/>
                    <a:lstStyle/>
                    <a:p>
                      <a:pPr>
                        <a:defRPr sz="1200">
                          <a:solidFill>
                            <a:srgbClr val="1A1A1A"/>
                          </a:solidFill>
                        </a:defRPr>
                      </a:pPr>
                      <a:r>
                        <a:t>41.2%</a:t>
                      </a:r>
                    </a:p>
                  </a:txBody>
                  <a:tcPr>
                    <a:solidFill>
                      <a:srgbClr val="F7F9FC"/>
                    </a:solidFill>
                  </a:tcPr>
                </a:tc>
                <a:tc>
                  <a:txBody>
                    <a:bodyPr/>
                    <a:lstStyle/>
                    <a:p>
                      <a:pPr>
                        <a:defRPr sz="1200">
                          <a:solidFill>
                            <a:srgbClr val="1A1A1A"/>
                          </a:solidFill>
                        </a:defRPr>
                      </a:pPr>
                      <a:r>
                        <a:t>39.7%</a:t>
                      </a:r>
                    </a:p>
                  </a:txBody>
                  <a:tcPr>
                    <a:solidFill>
                      <a:srgbClr val="F7F9FC"/>
                    </a:solidFill>
                  </a:tcPr>
                </a:tc>
                <a:tc>
                  <a:txBody>
                    <a:bodyPr/>
                    <a:lstStyle/>
                    <a:p>
                      <a:pPr>
                        <a:defRPr sz="1200">
                          <a:solidFill>
                            <a:srgbClr val="1A1A1A"/>
                          </a:solidFill>
                        </a:defRPr>
                      </a:pPr>
                      <a:r>
                        <a:t>0.2787</a:t>
                      </a:r>
                    </a:p>
                  </a:txBody>
                  <a:tcPr>
                    <a:solidFill>
                      <a:srgbClr val="F7F9FC"/>
                    </a:solidFill>
                  </a:tcPr>
                </a:tc>
                <a:tc>
                  <a:txBody>
                    <a:bodyPr/>
                    <a:lstStyle/>
                    <a:p>
                      <a:pPr>
                        <a:defRPr sz="1200">
                          <a:solidFill>
                            <a:srgbClr val="1A1A1A"/>
                          </a:solidFill>
                        </a:defRPr>
                      </a:pPr>
                      <a:r>
                        <a:t>[29.41, 52.94]%</a:t>
                      </a:r>
                    </a:p>
                  </a:txBody>
                  <a:tcPr>
                    <a:solidFill>
                      <a:srgbClr val="F7F9FC"/>
                    </a:solidFill>
                  </a:tcPr>
                </a:tc>
                <a:tc>
                  <a:txBody>
                    <a:bodyPr/>
                    <a:lstStyle/>
                    <a:p>
                      <a:pPr>
                        <a:defRPr sz="1200">
                          <a:solidFill>
                            <a:srgbClr val="1A1A1A"/>
                          </a:solidFill>
                        </a:defRPr>
                      </a:pPr>
                      <a:r>
                        <a:t>4,068</a:t>
                      </a:r>
                    </a:p>
                  </a:txBody>
                  <a:tcPr>
                    <a:solidFill>
                      <a:srgbClr val="F7F9FC"/>
                    </a:solidFill>
                  </a:tcPr>
                </a:tc>
              </a:tr>
              <a:tr h="414528">
                <a:tc>
                  <a:txBody>
                    <a:bodyPr/>
                    <a:lstStyle/>
                    <a:p>
                      <a:pPr>
                        <a:defRPr sz="1200">
                          <a:solidFill>
                            <a:srgbClr val="1A1A1A"/>
                          </a:solidFill>
                        </a:defRPr>
                      </a:pPr>
                      <a:r>
                        <a:t>Multi-agent, no debate</a:t>
                      </a:r>
                    </a:p>
                  </a:txBody>
                  <a:tcPr>
                    <a:solidFill>
                      <a:srgbClr val="FFFFFF"/>
                    </a:solidFill>
                  </a:tcPr>
                </a:tc>
                <a:tc>
                  <a:txBody>
                    <a:bodyPr/>
                    <a:lstStyle/>
                    <a:p>
                      <a:pPr>
                        <a:defRPr sz="1200">
                          <a:solidFill>
                            <a:srgbClr val="1A1A1A"/>
                          </a:solidFill>
                        </a:defRPr>
                      </a:pPr>
                      <a:r>
                        <a:t>45.6%</a:t>
                      </a:r>
                    </a:p>
                  </a:txBody>
                  <a:tcPr>
                    <a:solidFill>
                      <a:srgbClr val="FFFFFF"/>
                    </a:solidFill>
                  </a:tcPr>
                </a:tc>
                <a:tc>
                  <a:txBody>
                    <a:bodyPr/>
                    <a:lstStyle/>
                    <a:p>
                      <a:pPr>
                        <a:defRPr sz="1200">
                          <a:solidFill>
                            <a:srgbClr val="1A1A1A"/>
                          </a:solidFill>
                        </a:defRPr>
                      </a:pPr>
                      <a:r>
                        <a:t>41.2%</a:t>
                      </a:r>
                    </a:p>
                  </a:txBody>
                  <a:tcPr>
                    <a:solidFill>
                      <a:srgbClr val="FFFFFF"/>
                    </a:solidFill>
                  </a:tcPr>
                </a:tc>
                <a:tc>
                  <a:txBody>
                    <a:bodyPr/>
                    <a:lstStyle/>
                    <a:p>
                      <a:pPr>
                        <a:defRPr sz="1200">
                          <a:solidFill>
                            <a:srgbClr val="1A1A1A"/>
                          </a:solidFill>
                        </a:defRPr>
                      </a:pPr>
                      <a:r>
                        <a:t>0.2880</a:t>
                      </a:r>
                    </a:p>
                  </a:txBody>
                  <a:tcPr>
                    <a:solidFill>
                      <a:srgbClr val="FFFFFF"/>
                    </a:solidFill>
                  </a:tcPr>
                </a:tc>
                <a:tc>
                  <a:txBody>
                    <a:bodyPr/>
                    <a:lstStyle/>
                    <a:p>
                      <a:pPr>
                        <a:defRPr sz="1200">
                          <a:solidFill>
                            <a:srgbClr val="1A1A1A"/>
                          </a:solidFill>
                        </a:defRPr>
                      </a:pPr>
                      <a:r>
                        <a:t>[33.82, 57.35]%</a:t>
                      </a:r>
                    </a:p>
                  </a:txBody>
                  <a:tcPr>
                    <a:solidFill>
                      <a:srgbClr val="FFFFFF"/>
                    </a:solidFill>
                  </a:tcPr>
                </a:tc>
                <a:tc>
                  <a:txBody>
                    <a:bodyPr/>
                    <a:lstStyle/>
                    <a:p>
                      <a:pPr>
                        <a:defRPr sz="1200">
                          <a:solidFill>
                            <a:srgbClr val="1A1A1A"/>
                          </a:solidFill>
                        </a:defRPr>
                      </a:pPr>
                      <a:r>
                        <a:t>9,186</a:t>
                      </a:r>
                    </a:p>
                  </a:txBody>
                  <a:tcPr>
                    <a:solidFill>
                      <a:srgbClr val="FFFFFF"/>
                    </a:solidFill>
                  </a:tcPr>
                </a:tc>
              </a:tr>
              <a:tr h="414528">
                <a:tc>
                  <a:txBody>
                    <a:bodyPr/>
                    <a:lstStyle/>
                    <a:p>
                      <a:pPr>
                        <a:defRPr sz="1200">
                          <a:solidFill>
                            <a:srgbClr val="1A1A1A"/>
                          </a:solidFill>
                        </a:defRPr>
                      </a:pPr>
                      <a:r>
                        <a:t>Multi-agent + debate</a:t>
                      </a:r>
                    </a:p>
                  </a:txBody>
                  <a:tcPr>
                    <a:solidFill>
                      <a:srgbClr val="F7F9FC"/>
                    </a:solidFill>
                  </a:tcPr>
                </a:tc>
                <a:tc>
                  <a:txBody>
                    <a:bodyPr/>
                    <a:lstStyle/>
                    <a:p>
                      <a:pPr>
                        <a:defRPr sz="1200">
                          <a:solidFill>
                            <a:srgbClr val="1A1A1A"/>
                          </a:solidFill>
                        </a:defRPr>
                      </a:pPr>
                      <a:r>
                        <a:t>50.0%</a:t>
                      </a:r>
                    </a:p>
                  </a:txBody>
                  <a:tcPr>
                    <a:solidFill>
                      <a:srgbClr val="F7F9FC"/>
                    </a:solidFill>
                  </a:tcPr>
                </a:tc>
                <a:tc>
                  <a:txBody>
                    <a:bodyPr/>
                    <a:lstStyle/>
                    <a:p>
                      <a:pPr>
                        <a:defRPr sz="1200">
                          <a:solidFill>
                            <a:srgbClr val="1A1A1A"/>
                          </a:solidFill>
                        </a:defRPr>
                      </a:pPr>
                      <a:r>
                        <a:t>48.5%</a:t>
                      </a:r>
                    </a:p>
                  </a:txBody>
                  <a:tcPr>
                    <a:solidFill>
                      <a:srgbClr val="F7F9FC"/>
                    </a:solidFill>
                  </a:tcPr>
                </a:tc>
                <a:tc>
                  <a:txBody>
                    <a:bodyPr/>
                    <a:lstStyle/>
                    <a:p>
                      <a:pPr>
                        <a:defRPr sz="1200">
                          <a:solidFill>
                            <a:srgbClr val="1A1A1A"/>
                          </a:solidFill>
                        </a:defRPr>
                      </a:pPr>
                      <a:r>
                        <a:t>0.2593</a:t>
                      </a:r>
                    </a:p>
                  </a:txBody>
                  <a:tcPr>
                    <a:solidFill>
                      <a:srgbClr val="F7F9FC"/>
                    </a:solidFill>
                  </a:tcPr>
                </a:tc>
                <a:tc>
                  <a:txBody>
                    <a:bodyPr/>
                    <a:lstStyle/>
                    <a:p>
                      <a:pPr>
                        <a:defRPr sz="1200">
                          <a:solidFill>
                            <a:srgbClr val="1A1A1A"/>
                          </a:solidFill>
                        </a:defRPr>
                      </a:pPr>
                      <a:r>
                        <a:t>[38.24, 61.76]%</a:t>
                      </a:r>
                    </a:p>
                  </a:txBody>
                  <a:tcPr>
                    <a:solidFill>
                      <a:srgbClr val="F7F9FC"/>
                    </a:solidFill>
                  </a:tcPr>
                </a:tc>
                <a:tc>
                  <a:txBody>
                    <a:bodyPr/>
                    <a:lstStyle/>
                    <a:p>
                      <a:pPr>
                        <a:defRPr sz="1200">
                          <a:solidFill>
                            <a:srgbClr val="1A1A1A"/>
                          </a:solidFill>
                        </a:defRPr>
                      </a:pPr>
                      <a:r>
                        <a:t>19,696</a:t>
                      </a:r>
                    </a:p>
                  </a:txBody>
                  <a:tcPr>
                    <a:solidFill>
                      <a:srgbClr val="F7F9FC"/>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Resource &amp; cost accounting</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554480"/>
          <a:ext cx="10881360" cy="2487168"/>
        </p:xfrm>
        <a:graphic>
          <a:graphicData uri="http://schemas.openxmlformats.org/drawingml/2006/table">
            <a:tbl>
              <a:tblPr firstRow="1" bandRow="1">
                <a:tableStyleId>{5C22544A-7EE6-4342-B048-85BDC9FD1C3A}</a:tableStyleId>
              </a:tblPr>
              <a:tblGrid>
                <a:gridCol w="3200400"/>
                <a:gridCol w="1645920"/>
                <a:gridCol w="1463040"/>
                <a:gridCol w="1645920"/>
                <a:gridCol w="1463040"/>
                <a:gridCol w="1463040"/>
              </a:tblGrid>
              <a:tr h="414528">
                <a:tc>
                  <a:txBody>
                    <a:bodyPr/>
                    <a:lstStyle/>
                    <a:p>
                      <a:pPr>
                        <a:defRPr sz="1300" b="1">
                          <a:solidFill>
                            <a:srgbClr val="FFFFFF"/>
                          </a:solidFill>
                        </a:defRPr>
                      </a:pPr>
                      <a:r>
                        <a:t>System</a:t>
                      </a:r>
                    </a:p>
                  </a:txBody>
                  <a:tcPr>
                    <a:solidFill>
                      <a:srgbClr val="1F3864"/>
                    </a:solidFill>
                  </a:tcPr>
                </a:tc>
                <a:tc>
                  <a:txBody>
                    <a:bodyPr/>
                    <a:lstStyle/>
                    <a:p>
                      <a:pPr>
                        <a:defRPr sz="1300" b="1">
                          <a:solidFill>
                            <a:srgbClr val="FFFFFF"/>
                          </a:solidFill>
                        </a:defRPr>
                      </a:pPr>
                      <a:r>
                        <a:t>Tokens/fc</a:t>
                      </a:r>
                    </a:p>
                  </a:txBody>
                  <a:tcPr>
                    <a:solidFill>
                      <a:srgbClr val="1F3864"/>
                    </a:solidFill>
                  </a:tcPr>
                </a:tc>
                <a:tc>
                  <a:txBody>
                    <a:bodyPr/>
                    <a:lstStyle/>
                    <a:p>
                      <a:pPr>
                        <a:defRPr sz="1300" b="1">
                          <a:solidFill>
                            <a:srgbClr val="FFFFFF"/>
                          </a:solidFill>
                        </a:defRPr>
                      </a:pPr>
                      <a:r>
                        <a:t>LLM calls</a:t>
                      </a:r>
                    </a:p>
                  </a:txBody>
                  <a:tcPr>
                    <a:solidFill>
                      <a:srgbClr val="1F3864"/>
                    </a:solidFill>
                  </a:tcPr>
                </a:tc>
                <a:tc>
                  <a:txBody>
                    <a:bodyPr/>
                    <a:lstStyle/>
                    <a:p>
                      <a:pPr>
                        <a:defRPr sz="1300" b="1">
                          <a:solidFill>
                            <a:srgbClr val="FFFFFF"/>
                          </a:solidFill>
                        </a:defRPr>
                      </a:pPr>
                      <a:r>
                        <a:t>Wall time</a:t>
                      </a:r>
                    </a:p>
                  </a:txBody>
                  <a:tcPr>
                    <a:solidFill>
                      <a:srgbClr val="1F3864"/>
                    </a:solidFill>
                  </a:tcPr>
                </a:tc>
                <a:tc>
                  <a:txBody>
                    <a:bodyPr/>
                    <a:lstStyle/>
                    <a:p>
                      <a:pPr>
                        <a:defRPr sz="1300" b="1">
                          <a:solidFill>
                            <a:srgbClr val="FFFFFF"/>
                          </a:solidFill>
                        </a:defRPr>
                      </a:pPr>
                      <a:r>
                        <a:t>Token ratio</a:t>
                      </a:r>
                    </a:p>
                  </a:txBody>
                  <a:tcPr>
                    <a:solidFill>
                      <a:srgbClr val="1F3864"/>
                    </a:solidFill>
                  </a:tcPr>
                </a:tc>
                <a:tc>
                  <a:txBody>
                    <a:bodyPr/>
                    <a:lstStyle/>
                    <a:p>
                      <a:pPr>
                        <a:defRPr sz="1300" b="1">
                          <a:solidFill>
                            <a:srgbClr val="FFFFFF"/>
                          </a:solidFill>
                        </a:defRPr>
                      </a:pPr>
                      <a:r>
                        <a:t>Time ratio</a:t>
                      </a:r>
                    </a:p>
                  </a:txBody>
                  <a:tcPr>
                    <a:solidFill>
                      <a:srgbClr val="1F3864"/>
                    </a:solidFill>
                  </a:tcPr>
                </a:tc>
              </a:tr>
              <a:tr h="414528">
                <a:tc>
                  <a:txBody>
                    <a:bodyPr/>
                    <a:lstStyle/>
                    <a:p>
                      <a:pPr>
                        <a:defRPr sz="1200">
                          <a:solidFill>
                            <a:srgbClr val="1A1A1A"/>
                          </a:solidFill>
                        </a:defRPr>
                      </a:pPr>
                      <a:r>
                        <a:t>Naive — momentum</a:t>
                      </a:r>
                    </a:p>
                  </a:txBody>
                  <a:tcPr>
                    <a:solidFill>
                      <a:srgbClr val="F7F9FC"/>
                    </a:solidFill>
                  </a:tcPr>
                </a:tc>
                <a:tc>
                  <a:txBody>
                    <a:bodyPr/>
                    <a:lstStyle/>
                    <a:p>
                      <a:pPr>
                        <a:defRPr sz="1200">
                          <a:solidFill>
                            <a:srgbClr val="1A1A1A"/>
                          </a:solidFill>
                        </a:defRPr>
                      </a:pPr>
                      <a:r>
                        <a:t>0.0</a:t>
                      </a:r>
                    </a:p>
                  </a:txBody>
                  <a:tcPr>
                    <a:solidFill>
                      <a:srgbClr val="F7F9FC"/>
                    </a:solidFill>
                  </a:tcPr>
                </a:tc>
                <a:tc>
                  <a:txBody>
                    <a:bodyPr/>
                    <a:lstStyle/>
                    <a:p>
                      <a:pPr>
                        <a:defRPr sz="1200">
                          <a:solidFill>
                            <a:srgbClr val="1A1A1A"/>
                          </a:solidFill>
                        </a:defRPr>
                      </a:pPr>
                      <a:r>
                        <a:t>0.0</a:t>
                      </a:r>
                    </a:p>
                  </a:txBody>
                  <a:tcPr>
                    <a:solidFill>
                      <a:srgbClr val="F7F9FC"/>
                    </a:solidFill>
                  </a:tcPr>
                </a:tc>
                <a:tc>
                  <a:txBody>
                    <a:bodyPr/>
                    <a:lstStyle/>
                    <a:p>
                      <a:pPr>
                        <a:defRPr sz="1200">
                          <a:solidFill>
                            <a:srgbClr val="1A1A1A"/>
                          </a:solidFill>
                        </a:defRPr>
                      </a:pPr>
                      <a:r>
                        <a:t>0.06s</a:t>
                      </a:r>
                    </a:p>
                  </a:txBody>
                  <a:tcPr>
                    <a:solidFill>
                      <a:srgbClr val="F7F9FC"/>
                    </a:solidFill>
                  </a:tcPr>
                </a:tc>
                <a:tc>
                  <a:txBody>
                    <a:bodyPr/>
                    <a:lstStyle/>
                    <a:p>
                      <a:pPr>
                        <a:defRPr sz="1200">
                          <a:solidFill>
                            <a:srgbClr val="1A1A1A"/>
                          </a:solidFill>
                        </a:defRPr>
                      </a:pPr>
                      <a:r>
                        <a:t>0.00x</a:t>
                      </a:r>
                    </a:p>
                  </a:txBody>
                  <a:tcPr>
                    <a:solidFill>
                      <a:srgbClr val="F7F9FC"/>
                    </a:solidFill>
                  </a:tcPr>
                </a:tc>
                <a:tc>
                  <a:txBody>
                    <a:bodyPr/>
                    <a:lstStyle/>
                    <a:p>
                      <a:pPr>
                        <a:defRPr sz="1200">
                          <a:solidFill>
                            <a:srgbClr val="1A1A1A"/>
                          </a:solidFill>
                        </a:defRPr>
                      </a:pPr>
                      <a:r>
                        <a:t>0.01x</a:t>
                      </a:r>
                    </a:p>
                  </a:txBody>
                  <a:tcPr>
                    <a:solidFill>
                      <a:srgbClr val="F7F9FC"/>
                    </a:solidFill>
                  </a:tcPr>
                </a:tc>
              </a:tr>
              <a:tr h="414528">
                <a:tc>
                  <a:txBody>
                    <a:bodyPr/>
                    <a:lstStyle/>
                    <a:p>
                      <a:pPr>
                        <a:defRPr sz="1200">
                          <a:solidFill>
                            <a:srgbClr val="1A1A1A"/>
                          </a:solidFill>
                        </a:defRPr>
                      </a:pPr>
                      <a:r>
                        <a:t>Naive — always up</a:t>
                      </a:r>
                    </a:p>
                  </a:txBody>
                  <a:tcPr>
                    <a:solidFill>
                      <a:srgbClr val="FFFFFF"/>
                    </a:solidFill>
                  </a:tcPr>
                </a:tc>
                <a:tc>
                  <a:txBody>
                    <a:bodyPr/>
                    <a:lstStyle/>
                    <a:p>
                      <a:pPr>
                        <a:defRPr sz="1200">
                          <a:solidFill>
                            <a:srgbClr val="1A1A1A"/>
                          </a:solidFill>
                        </a:defRPr>
                      </a:pPr>
                      <a:r>
                        <a:t>0.0</a:t>
                      </a:r>
                    </a:p>
                  </a:txBody>
                  <a:tcPr>
                    <a:solidFill>
                      <a:srgbClr val="FFFFFF"/>
                    </a:solidFill>
                  </a:tcPr>
                </a:tc>
                <a:tc>
                  <a:txBody>
                    <a:bodyPr/>
                    <a:lstStyle/>
                    <a:p>
                      <a:pPr>
                        <a:defRPr sz="1200">
                          <a:solidFill>
                            <a:srgbClr val="1A1A1A"/>
                          </a:solidFill>
                        </a:defRPr>
                      </a:pPr>
                      <a:r>
                        <a:t>0.0</a:t>
                      </a:r>
                    </a:p>
                  </a:txBody>
                  <a:tcPr>
                    <a:solidFill>
                      <a:srgbClr val="FFFFFF"/>
                    </a:solidFill>
                  </a:tcPr>
                </a:tc>
                <a:tc>
                  <a:txBody>
                    <a:bodyPr/>
                    <a:lstStyle/>
                    <a:p>
                      <a:pPr>
                        <a:defRPr sz="1200">
                          <a:solidFill>
                            <a:srgbClr val="1A1A1A"/>
                          </a:solidFill>
                        </a:defRPr>
                      </a:pPr>
                      <a:r>
                        <a:t>0.04s</a:t>
                      </a:r>
                    </a:p>
                  </a:txBody>
                  <a:tcPr>
                    <a:solidFill>
                      <a:srgbClr val="FFFFFF"/>
                    </a:solidFill>
                  </a:tcPr>
                </a:tc>
                <a:tc>
                  <a:txBody>
                    <a:bodyPr/>
                    <a:lstStyle/>
                    <a:p>
                      <a:pPr>
                        <a:defRPr sz="1200">
                          <a:solidFill>
                            <a:srgbClr val="1A1A1A"/>
                          </a:solidFill>
                        </a:defRPr>
                      </a:pPr>
                      <a:r>
                        <a:t>0.00x</a:t>
                      </a:r>
                    </a:p>
                  </a:txBody>
                  <a:tcPr>
                    <a:solidFill>
                      <a:srgbClr val="FFFFFF"/>
                    </a:solidFill>
                  </a:tcPr>
                </a:tc>
                <a:tc>
                  <a:txBody>
                    <a:bodyPr/>
                    <a:lstStyle/>
                    <a:p>
                      <a:pPr>
                        <a:defRPr sz="1200">
                          <a:solidFill>
                            <a:srgbClr val="1A1A1A"/>
                          </a:solidFill>
                        </a:defRPr>
                      </a:pPr>
                      <a:r>
                        <a:t>0.01x</a:t>
                      </a:r>
                    </a:p>
                  </a:txBody>
                  <a:tcPr>
                    <a:solidFill>
                      <a:srgbClr val="FFFFFF"/>
                    </a:solidFill>
                  </a:tcPr>
                </a:tc>
              </a:tr>
              <a:tr h="414528">
                <a:tc>
                  <a:txBody>
                    <a:bodyPr/>
                    <a:lstStyle/>
                    <a:p>
                      <a:pPr>
                        <a:defRPr sz="1200">
                          <a:solidFill>
                            <a:srgbClr val="1A1A1A"/>
                          </a:solidFill>
                        </a:defRPr>
                      </a:pPr>
                      <a:r>
                        <a:t>Single-LLM baseline</a:t>
                      </a:r>
                    </a:p>
                  </a:txBody>
                  <a:tcPr>
                    <a:solidFill>
                      <a:srgbClr val="F7F9FC"/>
                    </a:solidFill>
                  </a:tcPr>
                </a:tc>
                <a:tc>
                  <a:txBody>
                    <a:bodyPr/>
                    <a:lstStyle/>
                    <a:p>
                      <a:pPr>
                        <a:defRPr sz="1200">
                          <a:solidFill>
                            <a:srgbClr val="1A1A1A"/>
                          </a:solidFill>
                        </a:defRPr>
                      </a:pPr>
                      <a:r>
                        <a:t>4,068.4</a:t>
                      </a:r>
                    </a:p>
                  </a:txBody>
                  <a:tcPr>
                    <a:solidFill>
                      <a:srgbClr val="F7F9FC"/>
                    </a:solidFill>
                  </a:tcPr>
                </a:tc>
                <a:tc>
                  <a:txBody>
                    <a:bodyPr/>
                    <a:lstStyle/>
                    <a:p>
                      <a:pPr>
                        <a:defRPr sz="1200">
                          <a:solidFill>
                            <a:srgbClr val="1A1A1A"/>
                          </a:solidFill>
                        </a:defRPr>
                      </a:pPr>
                      <a:r>
                        <a:t>1.0</a:t>
                      </a:r>
                    </a:p>
                  </a:txBody>
                  <a:tcPr>
                    <a:solidFill>
                      <a:srgbClr val="F7F9FC"/>
                    </a:solidFill>
                  </a:tcPr>
                </a:tc>
                <a:tc>
                  <a:txBody>
                    <a:bodyPr/>
                    <a:lstStyle/>
                    <a:p>
                      <a:pPr>
                        <a:defRPr sz="1200">
                          <a:solidFill>
                            <a:srgbClr val="1A1A1A"/>
                          </a:solidFill>
                        </a:defRPr>
                      </a:pPr>
                      <a:r>
                        <a:t>6.49s</a:t>
                      </a:r>
                    </a:p>
                  </a:txBody>
                  <a:tcPr>
                    <a:solidFill>
                      <a:srgbClr val="F7F9FC"/>
                    </a:solidFill>
                  </a:tcPr>
                </a:tc>
                <a:tc>
                  <a:txBody>
                    <a:bodyPr/>
                    <a:lstStyle/>
                    <a:p>
                      <a:pPr>
                        <a:defRPr sz="1200">
                          <a:solidFill>
                            <a:srgbClr val="1A1A1A"/>
                          </a:solidFill>
                        </a:defRPr>
                      </a:pPr>
                      <a:r>
                        <a:t>1.00x</a:t>
                      </a:r>
                    </a:p>
                  </a:txBody>
                  <a:tcPr>
                    <a:solidFill>
                      <a:srgbClr val="F7F9FC"/>
                    </a:solidFill>
                  </a:tcPr>
                </a:tc>
                <a:tc>
                  <a:txBody>
                    <a:bodyPr/>
                    <a:lstStyle/>
                    <a:p>
                      <a:pPr>
                        <a:defRPr sz="1200">
                          <a:solidFill>
                            <a:srgbClr val="1A1A1A"/>
                          </a:solidFill>
                        </a:defRPr>
                      </a:pPr>
                      <a:r>
                        <a:t>1.00x</a:t>
                      </a:r>
                    </a:p>
                  </a:txBody>
                  <a:tcPr>
                    <a:solidFill>
                      <a:srgbClr val="F7F9FC"/>
                    </a:solidFill>
                  </a:tcPr>
                </a:tc>
              </a:tr>
              <a:tr h="414528">
                <a:tc>
                  <a:txBody>
                    <a:bodyPr/>
                    <a:lstStyle/>
                    <a:p>
                      <a:pPr>
                        <a:defRPr sz="1200">
                          <a:solidFill>
                            <a:srgbClr val="1A1A1A"/>
                          </a:solidFill>
                        </a:defRPr>
                      </a:pPr>
                      <a:r>
                        <a:t>Multi-agent, no debate</a:t>
                      </a:r>
                    </a:p>
                  </a:txBody>
                  <a:tcPr>
                    <a:solidFill>
                      <a:srgbClr val="FFFFFF"/>
                    </a:solidFill>
                  </a:tcPr>
                </a:tc>
                <a:tc>
                  <a:txBody>
                    <a:bodyPr/>
                    <a:lstStyle/>
                    <a:p>
                      <a:pPr>
                        <a:defRPr sz="1200">
                          <a:solidFill>
                            <a:srgbClr val="1A1A1A"/>
                          </a:solidFill>
                        </a:defRPr>
                      </a:pPr>
                      <a:r>
                        <a:t>9,185.6</a:t>
                      </a:r>
                    </a:p>
                  </a:txBody>
                  <a:tcPr>
                    <a:solidFill>
                      <a:srgbClr val="FFFFFF"/>
                    </a:solidFill>
                  </a:tcPr>
                </a:tc>
                <a:tc>
                  <a:txBody>
                    <a:bodyPr/>
                    <a:lstStyle/>
                    <a:p>
                      <a:pPr>
                        <a:defRPr sz="1200">
                          <a:solidFill>
                            <a:srgbClr val="1A1A1A"/>
                          </a:solidFill>
                        </a:defRPr>
                      </a:pPr>
                      <a:r>
                        <a:t>4.9</a:t>
                      </a:r>
                    </a:p>
                  </a:txBody>
                  <a:tcPr>
                    <a:solidFill>
                      <a:srgbClr val="FFFFFF"/>
                    </a:solidFill>
                  </a:tcPr>
                </a:tc>
                <a:tc>
                  <a:txBody>
                    <a:bodyPr/>
                    <a:lstStyle/>
                    <a:p>
                      <a:pPr>
                        <a:defRPr sz="1200">
                          <a:solidFill>
                            <a:srgbClr val="1A1A1A"/>
                          </a:solidFill>
                        </a:defRPr>
                      </a:pPr>
                      <a:r>
                        <a:t>7.46s</a:t>
                      </a:r>
                    </a:p>
                  </a:txBody>
                  <a:tcPr>
                    <a:solidFill>
                      <a:srgbClr val="FFFFFF"/>
                    </a:solidFill>
                  </a:tcPr>
                </a:tc>
                <a:tc>
                  <a:txBody>
                    <a:bodyPr/>
                    <a:lstStyle/>
                    <a:p>
                      <a:pPr>
                        <a:defRPr sz="1200">
                          <a:solidFill>
                            <a:srgbClr val="1A1A1A"/>
                          </a:solidFill>
                        </a:defRPr>
                      </a:pPr>
                      <a:r>
                        <a:t>2.26x</a:t>
                      </a:r>
                    </a:p>
                  </a:txBody>
                  <a:tcPr>
                    <a:solidFill>
                      <a:srgbClr val="FFFFFF"/>
                    </a:solidFill>
                  </a:tcPr>
                </a:tc>
                <a:tc>
                  <a:txBody>
                    <a:bodyPr/>
                    <a:lstStyle/>
                    <a:p>
                      <a:pPr>
                        <a:defRPr sz="1200">
                          <a:solidFill>
                            <a:srgbClr val="1A1A1A"/>
                          </a:solidFill>
                        </a:defRPr>
                      </a:pPr>
                      <a:r>
                        <a:t>1.15x</a:t>
                      </a:r>
                    </a:p>
                  </a:txBody>
                  <a:tcPr>
                    <a:solidFill>
                      <a:srgbClr val="FFFFFF"/>
                    </a:solidFill>
                  </a:tcPr>
                </a:tc>
              </a:tr>
              <a:tr h="414528">
                <a:tc>
                  <a:txBody>
                    <a:bodyPr/>
                    <a:lstStyle/>
                    <a:p>
                      <a:pPr>
                        <a:defRPr sz="1200">
                          <a:solidFill>
                            <a:srgbClr val="1A1A1A"/>
                          </a:solidFill>
                        </a:defRPr>
                      </a:pPr>
                      <a:r>
                        <a:t>Multi-agent + debate</a:t>
                      </a:r>
                    </a:p>
                  </a:txBody>
                  <a:tcPr>
                    <a:solidFill>
                      <a:srgbClr val="F7F9FC"/>
                    </a:solidFill>
                  </a:tcPr>
                </a:tc>
                <a:tc>
                  <a:txBody>
                    <a:bodyPr/>
                    <a:lstStyle/>
                    <a:p>
                      <a:pPr>
                        <a:defRPr sz="1200">
                          <a:solidFill>
                            <a:srgbClr val="1A1A1A"/>
                          </a:solidFill>
                        </a:defRPr>
                      </a:pPr>
                      <a:r>
                        <a:t>19,696.2</a:t>
                      </a:r>
                    </a:p>
                  </a:txBody>
                  <a:tcPr>
                    <a:solidFill>
                      <a:srgbClr val="F7F9FC"/>
                    </a:solidFill>
                  </a:tcPr>
                </a:tc>
                <a:tc>
                  <a:txBody>
                    <a:bodyPr/>
                    <a:lstStyle/>
                    <a:p>
                      <a:pPr>
                        <a:defRPr sz="1200">
                          <a:solidFill>
                            <a:srgbClr val="1A1A1A"/>
                          </a:solidFill>
                        </a:defRPr>
                      </a:pPr>
                      <a:r>
                        <a:t>9.0</a:t>
                      </a:r>
                    </a:p>
                  </a:txBody>
                  <a:tcPr>
                    <a:solidFill>
                      <a:srgbClr val="F7F9FC"/>
                    </a:solidFill>
                  </a:tcPr>
                </a:tc>
                <a:tc>
                  <a:txBody>
                    <a:bodyPr/>
                    <a:lstStyle/>
                    <a:p>
                      <a:pPr>
                        <a:defRPr sz="1200">
                          <a:solidFill>
                            <a:srgbClr val="1A1A1A"/>
                          </a:solidFill>
                        </a:defRPr>
                      </a:pPr>
                      <a:r>
                        <a:t>53.63s</a:t>
                      </a:r>
                    </a:p>
                  </a:txBody>
                  <a:tcPr>
                    <a:solidFill>
                      <a:srgbClr val="F7F9FC"/>
                    </a:solidFill>
                  </a:tcPr>
                </a:tc>
                <a:tc>
                  <a:txBody>
                    <a:bodyPr/>
                    <a:lstStyle/>
                    <a:p>
                      <a:pPr>
                        <a:defRPr sz="1200">
                          <a:solidFill>
                            <a:srgbClr val="1A1A1A"/>
                          </a:solidFill>
                        </a:defRPr>
                      </a:pPr>
                      <a:r>
                        <a:t>4.84x</a:t>
                      </a:r>
                    </a:p>
                  </a:txBody>
                  <a:tcPr>
                    <a:solidFill>
                      <a:srgbClr val="F7F9FC"/>
                    </a:solidFill>
                  </a:tcPr>
                </a:tc>
                <a:tc>
                  <a:txBody>
                    <a:bodyPr/>
                    <a:lstStyle/>
                    <a:p>
                      <a:pPr>
                        <a:defRPr sz="1200">
                          <a:solidFill>
                            <a:srgbClr val="1A1A1A"/>
                          </a:solidFill>
                        </a:defRPr>
                      </a:pPr>
                      <a:r>
                        <a:t>8.26x</a:t>
                      </a:r>
                    </a:p>
                  </a:txBody>
                  <a:tcPr>
                    <a:solidFill>
                      <a:srgbClr val="F7F9FC"/>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Pre-registered hypothesis tests (decision rules)</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881360" cy="548640"/>
          </a:xfrm>
          <a:prstGeom prst="rect">
            <a:avLst/>
          </a:prstGeom>
          <a:noFill/>
        </p:spPr>
        <p:txBody>
          <a:bodyPr wrap="square">
            <a:spAutoFit/>
          </a:bodyPr>
          <a:lstStyle/>
          <a:p>
            <a:pPr>
              <a:defRPr sz="1600" i="1">
                <a:solidFill>
                  <a:srgbClr val="6B7280"/>
                </a:solidFill>
              </a:defRPr>
            </a:pPr>
            <a:r>
              <a:t>Strict compliance with pre-registered decision rules</a:t>
            </a:r>
          </a:p>
        </p:txBody>
      </p:sp>
      <p:sp>
        <p:nvSpPr>
          <p:cNvPr id="5" name="TextBox 4"/>
          <p:cNvSpPr txBox="1"/>
          <p:nvPr/>
        </p:nvSpPr>
        <p:spPr>
          <a:xfrm>
            <a:off x="640080" y="2057400"/>
            <a:ext cx="10881360" cy="4206240"/>
          </a:xfrm>
          <a:prstGeom prst="rect">
            <a:avLst/>
          </a:prstGeom>
          <a:noFill/>
        </p:spPr>
        <p:txBody>
          <a:bodyPr wrap="square">
            <a:spAutoFit/>
          </a:bodyPr>
          <a:lstStyle/>
          <a:p>
            <a:pPr>
              <a:spcAft>
                <a:spcPts val="1200"/>
              </a:spcAft>
              <a:defRPr sz="1600" b="0">
                <a:solidFill>
                  <a:srgbClr val="1A1A1A"/>
                </a:solidFill>
              </a:defRPr>
            </a:pPr>
            <a:r>
              <a:t>• Primary Comparison: Multi-Agent with Debate vs Single-LLM Baseline:</a:t>
            </a:r>
          </a:p>
          <a:p>
            <a:pPr lvl="1">
              <a:spcAft>
                <a:spcPts val="600"/>
              </a:spcAft>
              <a:defRPr sz="1400" b="0">
                <a:solidFill>
                  <a:srgbClr val="6B7280"/>
                </a:solidFill>
              </a:defRPr>
            </a:pPr>
            <a:r>
              <a:t>• Point delta: +8.82 percentage points (50.00% vs 41.18%)</a:t>
            </a:r>
          </a:p>
          <a:p>
            <a:pPr lvl="1">
              <a:spcAft>
                <a:spcPts val="600"/>
              </a:spcAft>
              <a:defRPr sz="1400" b="0">
                <a:solidFill>
                  <a:srgbClr val="6B7280"/>
                </a:solidFill>
              </a:defRPr>
            </a:pPr>
            <a:r>
              <a:t>• 95% Date-Block Clustered CI: [-4.41, +22.06] pts (McNemar exact p = 0.2863)</a:t>
            </a:r>
          </a:p>
          <a:p>
            <a:pPr>
              <a:spcAft>
                <a:spcPts val="1200"/>
              </a:spcAft>
              <a:defRPr sz="1800" b="1">
                <a:solidFill>
                  <a:srgbClr val="B26B00"/>
                </a:solidFill>
              </a:defRPr>
            </a:pPr>
            <a:r>
              <a:t>Pre-registered verdict: NO SUPPORTED DIFFERENCE (CI spans 0; not an improvement).</a:t>
            </a:r>
          </a:p>
          <a:p>
            <a:pPr>
              <a:spcAft>
                <a:spcPts val="1200"/>
              </a:spcAft>
              <a:defRPr sz="1600" b="0">
                <a:solidFill>
                  <a:srgbClr val="1A1A1A"/>
                </a:solidFill>
              </a:defRPr>
            </a:pPr>
            <a:r>
              <a:t>• Debate Ablation: Multi-Agent with Debate vs Multi-Agent without Debate:</a:t>
            </a:r>
          </a:p>
          <a:p>
            <a:pPr lvl="1">
              <a:spcAft>
                <a:spcPts val="600"/>
              </a:spcAft>
              <a:defRPr sz="1400" b="0">
                <a:solidFill>
                  <a:srgbClr val="6B7280"/>
                </a:solidFill>
              </a:defRPr>
            </a:pPr>
            <a:r>
              <a:t>• Point delta: +4.41 percentage points (50.00% vs 45.59%)</a:t>
            </a:r>
          </a:p>
          <a:p>
            <a:pPr lvl="1">
              <a:spcAft>
                <a:spcPts val="600"/>
              </a:spcAft>
              <a:defRPr sz="1400" b="0">
                <a:solidFill>
                  <a:srgbClr val="6B7280"/>
                </a:solidFill>
              </a:defRPr>
            </a:pPr>
            <a:r>
              <a:t>• 95% Date-Block Clustered CI: [-2.94, +13.24] pts (McNemar exact p = 0.5488)</a:t>
            </a:r>
          </a:p>
          <a:p>
            <a:pPr>
              <a:spcAft>
                <a:spcPts val="1200"/>
              </a:spcAft>
              <a:defRPr sz="1800" b="1">
                <a:solidFill>
                  <a:srgbClr val="B26B00"/>
                </a:solidFill>
              </a:defRPr>
            </a:pPr>
            <a:r>
              <a:t>Pre-registered verdict: NO SUPPORTED DIFFERENCE (CI spans 0; not an improvement).</a:t>
            </a:r>
          </a:p>
          <a:p>
            <a:pPr>
              <a:spcAft>
                <a:spcPts val="1200"/>
              </a:spcAft>
              <a:defRPr sz="1600" b="0">
                <a:solidFill>
                  <a:srgbClr val="1A1A1A"/>
                </a:solidFill>
              </a:defRPr>
            </a:pPr>
            <a:r>
              <a:t>• Calibration Payoff: Brier improves from 0.2880 to 0.2593 (overconfidence gap cut 19.5 -&gt; 10.7 pts).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What we do NOT claim (Limitations)</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881360" cy="4206240"/>
          </a:xfrm>
          <a:prstGeom prst="rect">
            <a:avLst/>
          </a:prstGeom>
          <a:noFill/>
        </p:spPr>
        <p:txBody>
          <a:bodyPr wrap="square">
            <a:spAutoFit/>
          </a:bodyPr>
          <a:lstStyle/>
          <a:p>
            <a:pPr>
              <a:spcAft>
                <a:spcPts val="1200"/>
              </a:spcAft>
              <a:defRPr sz="1800" b="0">
                <a:solidFill>
                  <a:srgbClr val="1A1A1A"/>
                </a:solidFill>
              </a:defRPr>
            </a:pPr>
            <a:r>
              <a:t>• Restatement leakage remains — yfinance serves restated financials.</a:t>
            </a:r>
          </a:p>
          <a:p>
            <a:pPr lvl="1">
              <a:spcAft>
                <a:spcPts val="600"/>
              </a:spcAft>
              <a:defRPr sz="1600" b="0">
                <a:solidFill>
                  <a:srgbClr val="6B7280"/>
                </a:solidFill>
              </a:defRPr>
            </a:pPr>
            <a:r>
              <a:t>• The 45-day rule fixes TIMING leakage, not restatement leakage.</a:t>
            </a:r>
          </a:p>
          <a:p>
            <a:pPr>
              <a:spcAft>
                <a:spcPts val="1200"/>
              </a:spcAft>
              <a:defRPr sz="1800" b="0">
                <a:solidFill>
                  <a:srgbClr val="1A1A1A"/>
                </a:solidFill>
              </a:defRPr>
            </a:pPr>
            <a:r>
              <a:t>• India CPI is unavailable free — documented, never estimated.</a:t>
            </a:r>
          </a:p>
          <a:p>
            <a:pPr>
              <a:spcAft>
                <a:spcPts val="1200"/>
              </a:spcAft>
              <a:defRPr sz="1800" b="0">
                <a:solidFill>
                  <a:srgbClr val="1A1A1A"/>
                </a:solidFill>
              </a:defRPr>
            </a:pPr>
            <a:r>
              <a:t>• GDELT gives headline metadata and tone, not full article text.</a:t>
            </a:r>
          </a:p>
          <a:p>
            <a:pPr>
              <a:spcAft>
                <a:spcPts val="1200"/>
              </a:spcAft>
              <a:defRPr sz="1800" b="0">
                <a:solidFill>
                  <a:srgbClr val="1A1A1A"/>
                </a:solidFill>
              </a:defRPr>
            </a:pPr>
            <a:r>
              <a:t>• Sample size (N=68 across 4 date clusters) yields wide confidence intervals.</a:t>
            </a:r>
          </a:p>
          <a:p>
            <a:pPr>
              <a:spcAft>
                <a:spcPts val="1200"/>
              </a:spcAft>
              <a:defRPr sz="2000" b="1">
                <a:solidFill>
                  <a:srgbClr val="B26B00"/>
                </a:solidFill>
              </a:defRPr>
            </a:pPr>
            <a:r>
              <a:t>Every limitation is documented upfront in docs/LIMITATIONS.md.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881360" cy="822960"/>
          </a:xfrm>
          <a:prstGeom prst="rect">
            <a:avLst/>
          </a:prstGeom>
          <a:noFill/>
        </p:spPr>
        <p:txBody>
          <a:bodyPr wrap="square">
            <a:spAutoFit/>
          </a:bodyPr>
          <a:lstStyle/>
          <a:p>
            <a:pPr>
              <a:defRPr sz="2800" b="1">
                <a:solidFill>
                  <a:srgbClr val="1F3864"/>
                </a:solidFill>
              </a:defRPr>
            </a:pPr>
            <a:r>
              <a:t>Conclusion</a:t>
            </a:r>
          </a:p>
        </p:txBody>
      </p:sp>
      <p:sp>
        <p:nvSpPr>
          <p:cNvPr id="3" name="Rectangle 2"/>
          <p:cNvSpPr/>
          <p:nvPr/>
        </p:nvSpPr>
        <p:spPr>
          <a:xfrm>
            <a:off x="640080" y="1170432"/>
            <a:ext cx="10881360" cy="228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881360" cy="4206240"/>
          </a:xfrm>
          <a:prstGeom prst="rect">
            <a:avLst/>
          </a:prstGeom>
          <a:noFill/>
        </p:spPr>
        <p:txBody>
          <a:bodyPr wrap="square">
            <a:spAutoFit/>
          </a:bodyPr>
          <a:lstStyle/>
          <a:p>
            <a:pPr>
              <a:spcAft>
                <a:spcPts val="1200"/>
              </a:spcAft>
              <a:defRPr sz="1800" b="0">
                <a:solidFill>
                  <a:srgbClr val="1A1A1A"/>
                </a:solidFill>
              </a:defRPr>
            </a:pPr>
            <a:r>
              <a:t>• Built: a 7-agent forecasting system for NSE equities, end to end.</a:t>
            </a:r>
          </a:p>
          <a:p>
            <a:pPr>
              <a:spcAft>
                <a:spcPts val="1200"/>
              </a:spcAft>
              <a:defRPr sz="1800" b="0">
                <a:solidFill>
                  <a:srgbClr val="1A1A1A"/>
                </a:solidFill>
              </a:defRPr>
            </a:pPr>
            <a:r>
              <a:t>• Built first: the evaluation protocol that makes its results mean anything.</a:t>
            </a:r>
          </a:p>
          <a:p>
            <a:pPr lvl="1">
              <a:spcAft>
                <a:spcPts val="600"/>
              </a:spcAft>
              <a:defRPr sz="1600" b="0">
                <a:solidFill>
                  <a:srgbClr val="6B7280"/>
                </a:solidFill>
              </a:defRPr>
            </a:pPr>
            <a:r>
              <a:t>• as_of in data layer · quarantined outcomes · point-in-time universe · SEBI lag · reconciliation gate</a:t>
            </a:r>
          </a:p>
          <a:p>
            <a:pPr>
              <a:spcAft>
                <a:spcPts val="1200"/>
              </a:spcAft>
              <a:defRPr sz="1800" b="0">
                <a:solidFill>
                  <a:srgbClr val="1A1A1A"/>
                </a:solidFill>
              </a:defRPr>
            </a:pPr>
            <a:r>
              <a:t>• Every ablation is a configuration, not a code path.</a:t>
            </a:r>
          </a:p>
          <a:p>
            <a:pPr>
              <a:spcAft>
                <a:spcPts val="1200"/>
              </a:spcAft>
              <a:defRPr sz="1800" b="0">
                <a:solidFill>
                  <a:srgbClr val="1A1A1A"/>
                </a:solidFill>
              </a:defRPr>
            </a:pPr>
            <a:r>
              <a:t>• Every number in the report traces to a committed results file.</a:t>
            </a:r>
          </a:p>
          <a:p>
            <a:pPr>
              <a:spcAft>
                <a:spcPts val="1200"/>
              </a:spcAft>
              <a:defRPr sz="2000" b="1">
                <a:solidFill>
                  <a:srgbClr val="B26B00"/>
                </a:solidFill>
              </a:defRPr>
            </a:pPr>
            <a:r>
              <a:t>The contribution is not the debate. It is knowing whether the debate works.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