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question, not the system. The system is the instrument; the question is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to 40 seconds. Everyone already believes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slide before anyone can ask it. It converts the single biggest attack on the project into evidence of rigour.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contribution moves from architecture to MEASUREMENT. If they remember one slide, make it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the test window is a design constraint, not a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Examiners like hearing that a plan was changed for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call it a limitation. Four reasons, stated as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ablatable edge. That edge is the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specialist sees ONLY its slice. If all four saw everything they'd converge and the ablation would measure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import-graph test is the crispest single answer to 'how do you know it doesn't leak?'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Very few student backtests can prove their universe.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willingness to ship an empty evidence block rather than a convenient number is the strongest integrity signal in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for one piece of engineering to defend, defend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nonce detail always lands well — it shows we thought about how our own tooling could fake a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numbers from our own committed results. An examiner WILL ask about index drift; this pre-empts it with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ORDER:</a:t>
            </a:r>
          </a:p>
          <a:p>
            <a:r>
              <a:t>1. forecast AAPL --as-of ...  -&gt; rejected at the boundary</a:t>
            </a:r>
          </a:p>
          <a:p>
            <a:r>
              <a:t>2. --data-only                -&gt; evidence pack, no model calls</a:t>
            </a:r>
          </a:p>
          <a:p>
            <a:r>
              <a:t>3. Streamlit: run the full pipeline, show the live agent log</a:t>
            </a:r>
          </a:p>
          <a:p>
            <a:r>
              <a:t>4. Bull vs Bear panel, then the forecast card</a:t>
            </a:r>
          </a:p>
          <a:p>
            <a:r>
              <a:t>5. Scroll to the reconciliation gate</a:t>
            </a:r>
          </a:p>
          <a:p/>
          <a:p>
            <a:r>
              <a:t>EVERY run must be served from the permanent LLM cache. Never let a live API call decide whether the defence succeeds.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Dashes are configurations not yet run. Regenerate this deck after `python -m evaluate ablate --repeats 3` and they fill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answer to 'so what?'. Cost is a first-class result, not an afterthought.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Volunteering limitations before they're asked is the single cheapest way to gain credibility in a viva.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reframing you opened with. Then stop talking.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3864"/>
                </a:solidFill>
              </a:defRPr>
            </a:pPr>
            <a:r>
              <a:t>Does Adversarial Multi-Agent Debate</a:t>
            </a:r>
            <a:br/>
            <a:r>
              <a:t>Improve LLM Financial Forecasting?</a:t>
            </a:r>
          </a:p>
          <a:p>
            <a:pPr>
              <a:spcBef>
                <a:spcPts val="1600"/>
              </a:spcBef>
              <a:defRPr sz="2000" i="1">
                <a:solidFill>
                  <a:srgbClr val="2E5C8A"/>
                </a:solidFill>
              </a:defRPr>
            </a:pPr>
            <a:r>
              <a:t>A leakage-free evaluation on Indian equities (NSE)</a:t>
            </a:r>
          </a:p>
          <a:p>
            <a:pPr>
              <a:spcBef>
                <a:spcPts val="2400"/>
              </a:spcBef>
              <a:defRPr sz="1300">
                <a:solidFill>
                  <a:srgbClr val="6B7280"/>
                </a:solidFill>
              </a:defRPr>
            </a:pPr>
            <a:r>
              <a:t>B.Tech Capstone Project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Forecasting needs four incompatible kinds of evidence at once: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price action · company fundamentals · news sentiment · macro context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One LLM handed all of it: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hallucinates numbers · cannot fetch market data · collapses conflict into bland consensus</a:t>
            </a:r>
          </a:p>
          <a:p>
            <a:pPr>
              <a:spcAft>
                <a:spcPts val="1200"/>
              </a:spcAft>
              <a:defRPr sz="2000" b="1">
                <a:solidFill>
                  <a:srgbClr val="B26B00"/>
                </a:solidFill>
              </a:defRPr>
            </a:pPr>
            <a:r>
              <a:t>The industry answer: split the work across specialist agents, then make them argue.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First, the honest part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That architecture is already published.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TradingAgents — arXiv:2412.20138, Tauric Research, open source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Specialist analysts · Bull and Bear debate · risk team · synthesiser</a:t>
            </a:r>
          </a:p>
          <a:p>
            <a:pPr>
              <a:spcAft>
                <a:spcPts val="1200"/>
              </a:spcAft>
              <a:defRPr sz="2000" b="1">
                <a:solidFill>
                  <a:srgbClr val="B26B00"/>
                </a:solidFill>
              </a:defRPr>
            </a:pPr>
            <a:r>
              <a:t>So 'we built a Bull/Bear debate' is not a contribution.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A supervisor who searches the phrase finds that paper in one query.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We say it first — and then say what IS 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The research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5C8A"/>
                </a:solidFill>
              </a:defRPr>
            </a:pPr>
            <a:r>
              <a:t>Under an evaluation protocol that provably excludes lookahead bias,</a:t>
            </a:r>
            <a:br/>
            <a:r>
              <a:t>does adversarial debate beat a single LLM and a no-debate ensemble —</a:t>
            </a:r>
            <a:br/>
            <a:r>
              <a:t>and is any gain worth its token cost?</a:t>
            </a:r>
          </a:p>
          <a:p>
            <a:pPr algn="ctr">
              <a:spcBef>
                <a:spcPts val="2400"/>
              </a:spcBef>
              <a:defRPr sz="1500">
                <a:solidFill>
                  <a:srgbClr val="6B7280"/>
                </a:solidFill>
              </a:defRPr>
            </a:pPr>
            <a:r>
              <a:t>Worth answering either way. A measured 'no' is a real finding.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Problem 1 — the backtest that measures memory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'Test a forecast made three months ago against what happened.'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The model's weights already encode what happened.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arXiv:2512.23847 — Lookahead Propensity: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materially positive across the training window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collapses to ~zero right after the training cutoff</a:t>
            </a:r>
          </a:p>
          <a:p>
            <a:pPr>
              <a:spcAft>
                <a:spcPts val="1200"/>
              </a:spcAft>
              <a:defRPr sz="2000" b="1">
                <a:solidFill>
                  <a:srgbClr val="B26B00"/>
                </a:solidFill>
              </a:defRPr>
            </a:pPr>
            <a:r>
              <a:t>Only a post-cutoff test window is valid. Everything else is recall.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Problem 2 — the phase order that guarantees failure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Build for 10 weeks, evaluate in week 11: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if the protocol is broken, there is no time left to fix it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'multi-agent beats one LLM' is unprovable without the baseline</a:t>
            </a:r>
          </a:p>
          <a:p>
            <a:pPr>
              <a:spcAft>
                <a:spcPts val="1200"/>
              </a:spcAft>
              <a:defRPr sz="2000" b="1">
                <a:solidFill>
                  <a:srgbClr val="B26B00"/>
                </a:solidFill>
              </a:defRPr>
            </a:pPr>
            <a:r>
              <a:t>Rule adopted: build the ruler before the thing you measure.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Evaluation moved to Phase 2. Baseline shipped in Phase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Why Indian equities only — a choice, not a shortcut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It IS the novelty — the literature is overwhelmingly US large-cap.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One market = one calendar, one currency, one regulator, one filing deadline.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That is what makes the as_of protocol PROVABLE rather than approximate.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It buys India-specific engineering worth real marks: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point-in-time bhavcopy universe · SEBI filing lag · NIFTY-relative scoring · lakh/crore checks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NSE publishes a free, keyless, complete daily archive. Few markets 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Ticker + as-of date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       |          &lt;-- India boundary: resolve to .NS/.BO, or REJECT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       v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+-------- SPECIALIST LAYER  (parallel fan-out) ---------+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|  Technical   Fundamental   Sentiment   Macro          |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+--------------------------------------------------------+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       |  fan-in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       v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RECONCILIATION GATE    every number re-checked vs source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       |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       v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DEBATE STAGE   &lt;---- ABLATABLE (one conditional edge)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  Bull -&gt; Bear rebuts -&gt; Bull counters -&gt; Bear closes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       |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       v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CHIEF RISK OFFICER     weighs evidence, issues the call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       |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       v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signal | target range (INR) | confidence % | citations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       |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       v</a:t>
            </a:r>
          </a:p>
          <a:p>
            <a:pPr>
              <a:spcAft>
                <a:spcPts val="0"/>
              </a:spcAft>
              <a:defRPr sz="1300">
                <a:solidFill>
                  <a:srgbClr val="1A1A1A"/>
                </a:solidFill>
                <a:latin typeface="Consolas"/>
              </a:defRPr>
            </a:pPr>
            <a:r>
              <a:t>   EVALUATION HARNESS     leakage-free scoring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Seven agents, seven evidence slices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881360" cy="2871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206240"/>
                <a:gridCol w="4663440"/>
              </a:tblGrid>
              <a:tr h="410173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Sees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Produces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Technical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OHLCV + indicators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score −10..+10, levels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Fundamental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SEBI-filtered fundamentals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valuation, 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Sentiment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Deduped Indian headlines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polarity, catalysts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RBI, USD/INR, crude, sectors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Tailwind/Neutral/Headwind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Bull / Bear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All 4 reports + transcript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case, target, rebuttal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</a:tr>
              <a:tr h="41017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Risk Officer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All 4 + full debate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FinalForecast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Leakage control 1 — as_of is enforced in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Every data function takes an as_of date and cannot return a later row.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Enforced in the DATA LAYER — never by prompting.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Prompting is a secondary measure. It is not a control and we don't claim it is.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Realised outcomes live in ONE quarantined module.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A test parses every forecasting module's imports and asserts none can reach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Leakage control 2 — a point-in-time universe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Test universe = stocks that ACTUALLY TRADED on each as_of date.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read from that day's NSE bhavcopy, not today's NIFTY 50 list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Today's index membership is textbook survivorship bias: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it silently excludes the delisted, merged and demoted — the losers</a:t>
            </a:r>
          </a:p>
          <a:p>
            <a:pPr>
              <a:spcAft>
                <a:spcPts val="1200"/>
              </a:spcAft>
              <a:defRPr sz="2000" b="1">
                <a:solidFill>
                  <a:srgbClr val="B26B00"/>
                </a:solidFill>
              </a:defRPr>
            </a:pPr>
            <a:r>
              <a:t>The bhavcopy is a complete daily snapshot, so we can PROVE the universe was right.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The frozen test set records its exclusions, e.g. TATAMOTORS on 2025-11-06.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Leakage control 3 — the SEBI filing rule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SEBI LODR Reg. 33: quarterly results filed within 45 days of quarter end.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Q3 numbers (quarter ends 31 Dec) were NOT public until ~14 Feb.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Rule: a quarter is visible only if as_of ≥ quarter_end + 45 days.</a:t>
            </a:r>
          </a:p>
          <a:p>
            <a:pPr>
              <a:spcAft>
                <a:spcPts val="1200"/>
              </a:spcAft>
              <a:defRPr sz="2000" b="1">
                <a:solidFill>
                  <a:srgbClr val="B26B00"/>
                </a:solidFill>
              </a:defRPr>
            </a:pPr>
            <a:r>
              <a:t>And a stricter one the data forced on us: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yfinance serves TODAY's P/E and market cap — not what was knowable then.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So in backtest mode those fields are WITHHELD entirely.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Fundamental evidence is often empty. That is the honest answer, and we report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The reconciliation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</a:defRPr>
            </a:pPr>
            <a:r>
              <a:t>• Every numeric claim is re-checked against its cached source before it propagates.</a:t>
            </a:r>
          </a:p>
          <a:p>
            <a:pPr lvl="1">
              <a:spcAft>
                <a:spcPts val="600"/>
              </a:spcAft>
              <a:defRPr sz="1500" b="0">
                <a:solidFill>
                  <a:srgbClr val="6B7280"/>
                </a:solidFill>
              </a:defRPr>
            </a:pPr>
            <a:r>
              <a:t>• A hallucinated adjective is embarrassing. A hallucinated NUMBER is invisible.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</a:defRPr>
            </a:pPr>
            <a:r>
              <a:t>• Catches: value mismatch · MAGNITUDE (lakh/crore 100×) · inverted ranges · fabricated citations</a:t>
            </a:r>
          </a:p>
          <a:p>
            <a:pPr>
              <a:spcAft>
                <a:spcPts val="1200"/>
              </a:spcAft>
              <a:defRPr sz="1900" b="1">
                <a:solidFill>
                  <a:srgbClr val="B26B00"/>
                </a:solidFill>
              </a:defRPr>
            </a:pPr>
            <a:r>
              <a:t>It FLAGS — it never silently repairs.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</a:defRPr>
            </a:pPr>
            <a:r>
              <a:t>• Clamping a bad target would measure our clamp, not the model.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</a:defRPr>
            </a:pPr>
            <a:r>
              <a:t>• Unperformable checks are recorded as 'unverifiable', never as passes.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</a:defRPr>
            </a:pPr>
            <a:r>
              <a:t>• Proven by attack: the test suite injects fakes and asserts each is caught.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How we score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</a:defRPr>
            </a:pPr>
            <a:r>
              <a:t>• Directional accuracy — the headline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</a:defRPr>
            </a:pPr>
            <a:r>
              <a:t>• NIFTY-relative accuracy — reported ALONGSIDE it, always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</a:defRPr>
            </a:pPr>
            <a:r>
              <a:t>• MAE / MAPE on the target, in rupees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</a:defRPr>
            </a:pPr>
            <a:r>
              <a:t>• Brier score + reliability curve — calibration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</a:defRPr>
            </a:pPr>
            <a:r>
              <a:t>• Cost per forecast: tokens, calls, seconds</a:t>
            </a:r>
          </a:p>
          <a:p>
            <a:pPr>
              <a:spcAft>
                <a:spcPts val="1200"/>
              </a:spcAft>
              <a:defRPr sz="1900" b="1">
                <a:solidFill>
                  <a:srgbClr val="B26B00"/>
                </a:solidFill>
              </a:defRPr>
            </a:pPr>
            <a:r>
              <a:t>Horizon = 21 TRADING SESSIONS, not 21 calendar days.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</a:defRPr>
            </a:pPr>
            <a:r>
              <a:t>• ≥3 repeats per configuration, unique cache nonce each.</a:t>
            </a:r>
          </a:p>
          <a:p>
            <a:pPr lvl="1">
              <a:spcAft>
                <a:spcPts val="600"/>
              </a:spcAft>
              <a:defRPr sz="1500" b="0">
                <a:solidFill>
                  <a:srgbClr val="6B7280"/>
                </a:solidFill>
              </a:defRPr>
            </a:pPr>
            <a:r>
              <a:t>• Without the nonce, repeats hit the cache and report zero variance.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Why raw accuracy alone would flatter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6B7280"/>
                </a:solidFill>
              </a:defRPr>
            </a:pPr>
            <a:r>
              <a:t>Measured on the frozen test set — no LLM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The 'always up' rule — predicts up every single time: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raw directional accuracy: 75.0%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versus NIFTY 50: 50.0%  — near chance</a:t>
            </a:r>
          </a:p>
          <a:p>
            <a:pPr>
              <a:spcAft>
                <a:spcPts val="1200"/>
              </a:spcAft>
              <a:defRPr sz="2000" b="1">
                <a:solidFill>
                  <a:srgbClr val="B26B00"/>
                </a:solidFill>
              </a:defRPr>
            </a:pPr>
            <a:r>
              <a:t>A model that says 'Buy' every time can look like a forecaster.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Excess-return scoring removes the illusion.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This is measured, committed, and in the results files today.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B26B00"/>
                </a:solidFill>
              </a:defRPr>
            </a:pPr>
            <a:r>
              <a:t>DEMO</a:t>
            </a:r>
          </a:p>
          <a:p>
            <a:pPr>
              <a:defRPr sz="3600" b="1">
                <a:solidFill>
                  <a:srgbClr val="1F3864"/>
                </a:solidFill>
              </a:defRPr>
            </a:pPr>
            <a:r>
              <a:t>The system, running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8813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94560"/>
                <a:gridCol w="2194560"/>
                <a:gridCol w="2286000"/>
              </a:tblGrid>
              <a:tr h="41452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System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Dir. acc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vs NIFTY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Tokens/fc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Naive — momentum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Naive — always 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75.0%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Single-LLM baseline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Multi-agent + debate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Multi-agent, no debate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Does the debate earn its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The debate is ONE conditional edge in the graph.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full system: 9 LLM calls   ·   no-debate: 5 LLM calls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verified end-to-end against a stubbed model, so the count is exact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We report the accuracy delta and the token ratio side by side.</a:t>
            </a:r>
          </a:p>
          <a:p>
            <a:pPr>
              <a:spcAft>
                <a:spcPts val="1200"/>
              </a:spcAft>
              <a:defRPr sz="2000" b="1">
                <a:solidFill>
                  <a:srgbClr val="B26B00"/>
                </a:solidFill>
              </a:defRPr>
            </a:pPr>
            <a:r>
              <a:t>A gain of 2 points for 2.4× the cost is a different finding from a free one.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And we read both against the repeat-to-repeat standard deviation before calling anything an effect.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What we do NOT claim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Restatement leakage remains — yfinance serves restated financials.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The 45-day rule fixes TIMING leakage, not restatement leakage.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India CPI is unavailable free — documented, never estimated.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GDELT gives headline metadata and tone, not article text.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The test set is small — differences of a few points sit inside noise.</a:t>
            </a:r>
          </a:p>
          <a:p>
            <a:pPr>
              <a:spcAft>
                <a:spcPts val="1200"/>
              </a:spcAft>
              <a:defRPr sz="2000" b="1">
                <a:solidFill>
                  <a:srgbClr val="B26B00"/>
                </a:solidFill>
              </a:defRPr>
            </a:pPr>
            <a:r>
              <a:t>Every one of these is in the report. None was discovered by an examiner.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864"/>
                </a:solidFill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0881360" cy="228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Built: a 7-agent forecasting system for NSE equities, end to end.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Built first: the evaluation protocol that makes its results mean anything.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6B7280"/>
                </a:solidFill>
              </a:defRPr>
            </a:pPr>
            <a:r>
              <a:t>• as_of in the data layer · quarantined outcomes · point-in-time universe · SEBI lag · reconciliation gate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Every ablation is a configuration, not a code path.</a:t>
            </a:r>
          </a:p>
          <a:p>
            <a:pPr>
              <a:spcAft>
                <a:spcPts val="1200"/>
              </a:spcAft>
              <a:defRPr sz="1800" b="0">
                <a:solidFill>
                  <a:srgbClr val="1A1A1A"/>
                </a:solidFill>
              </a:defRPr>
            </a:pPr>
            <a:r>
              <a:t>• Every number in the report traces to a committed results file.</a:t>
            </a:r>
          </a:p>
          <a:p>
            <a:pPr>
              <a:spcAft>
                <a:spcPts val="1200"/>
              </a:spcAft>
              <a:defRPr sz="2000" b="1">
                <a:solidFill>
                  <a:srgbClr val="B26B00"/>
                </a:solidFill>
              </a:defRPr>
            </a:pPr>
            <a:r>
              <a:t>The contribution is not the debate. It is knowing whether the debate works.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